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9e49fdd3-879f-6f4d-c7dc-89133ab0933d}">
          <p14:sldIdLst>
            <p14:sldId id="256"/>
            <p14:sldId id="257"/>
            <p14:sldId id="258"/>
          </p14:sldIdLst>
        </p14:section>
        <p14:section name="Solution" id="{157177c5-1d81-a70d-bc2d-e88d26970329}">
          <p14:sldIdLst>
            <p14:sldId id="259"/>
            <p14:sldId id="260"/>
            <p14:sldId id="261"/>
          </p14:sldIdLst>
        </p14:section>
        <p14:section name="Architecture" id="{21687321-2eb5-166c-ccad-2afde4eebe8a}">
          <p14:sldIdLst>
            <p14:sldId id="262"/>
            <p14:sldId id="263"/>
          </p14:sldIdLst>
        </p14:section>
        <p14:section name="Trust &amp; results" id="{0c11ce9d-abdb-4739-9038-88a385e03f2c}">
          <p14:sldIdLst>
            <p14:sldId id="264"/>
            <p14:sldId id="265"/>
            <p14:sldId id="266"/>
          </p14:sldIdLst>
        </p14:section>
        <p14:section name="Running it" id="{bd02146c-2fc9-83ee-99e5-23839d966db4}">
          <p14:sldIdLst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Items</c:v>
                </c:pt>
              </c:strCache>
            </c:strRef>
          </c:tx>
          <c:spPr>
            <a:solidFill>
              <a:srgbClr val="0B1B3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Qatar</c:v>
                  </c:pt>
                  <c:pt idx="1">
                    <c:v>UAE</c:v>
                  </c:pt>
                  <c:pt idx="2">
                    <c:v>Saudi Arabia</c:v>
                  </c:pt>
                  <c:pt idx="3">
                    <c:v>Kuwait</c:v>
                  </c:pt>
                  <c:pt idx="4">
                    <c:v>Oman</c:v>
                  </c:pt>
                  <c:pt idx="5">
                    <c:v>Bahrain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</c:v>
                </c:pt>
                <c:pt idx="1">
                  <c:v>101</c:v>
                </c:pt>
                <c:pt idx="2">
                  <c:v>15</c:v>
                </c:pt>
                <c:pt idx="3">
                  <c:v>41</c:v>
                </c:pt>
                <c:pt idx="4">
                  <c:v>12</c:v>
                </c:pt>
                <c:pt idx="5">
                  <c:v>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93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6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7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6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Items</c:v>
                </c:pt>
              </c:strCache>
            </c:strRef>
          </c:tx>
          <c:spPr>
            <a:solidFill>
              <a:srgbClr val="0B1B3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Awards &amp; Rankings</c:v>
                  </c:pt>
                  <c:pt idx="1">
                    <c:v>Fraud, Risk &amp; Compliance</c:v>
                  </c:pt>
                  <c:pt idx="2">
                    <c:v>Customer-Facing AI</c:v>
                  </c:pt>
                  <c:pt idx="3">
                    <c:v>AI Skills &amp; Talent</c:v>
                  </c:pt>
                  <c:pt idx="4">
                    <c:v>Generative AI &amp; Copilots</c:v>
                  </c:pt>
                  <c:pt idx="5">
                    <c:v>AI Strategy &amp; Leadership</c:v>
                  </c:pt>
                  <c:pt idx="6">
                    <c:v>Tech Vendor Partnerships</c:v>
                  </c:pt>
                  <c:pt idx="7">
                    <c:v>AI Adoption in Operations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19</c:v>
                </c:pt>
                <c:pt idx="1">
                  <c:v>27</c:v>
                </c:pt>
                <c:pt idx="2">
                  <c:v>29</c:v>
                </c:pt>
                <c:pt idx="3">
                  <c:v>30</c:v>
                </c:pt>
                <c:pt idx="4">
                  <c:v>33</c:v>
                </c:pt>
                <c:pt idx="5">
                  <c:v>45</c:v>
                </c:pt>
                <c:pt idx="6">
                  <c:v>49</c:v>
                </c:pt>
                <c:pt idx="7">
                  <c:v>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93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mobile dashboard that tracks every AI initiative announced by GCC banks, updated daily, with Telegram alerts.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as of 6 October 2026 (first days of operation). Coverage grows with every daily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Also: charts of AI themes, tech partners and monthly trends; designed for phones; shareable by link.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servers to run: GitHub Actions does the work, GitHub Pages hosts the site, data is versioned in the repository (full audit history).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Items that fail are logged with the reason (audit trail). Items from unknown outlets wait up to 21 days for a second 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B1B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65836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611880"/>
            <a:ext cx="65836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GCC Banking – AI Pulse Monitor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11-1.png"/><Relationship Id="rId3" Type="http://schemas.openxmlformats.org/officeDocument/2006/relationships/image" Target="../media/image-11-2.png"/><Relationship Id="rId4" Type="http://schemas.openxmlformats.org/officeDocument/2006/relationships/image" Target="../media/image-11-3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15544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chemeClr val="accent1"/>
                </a:solidFill>
              </a:rPr>
              <a:t>GCC BANKING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201168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Pulse Monitor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640080" y="361188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AI in Gulf banks, daily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C9D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 · October 2026</a:t>
            </a:r>
            <a:endParaRPr lang="en-US" sz="1800" dirty="0"/>
          </a:p>
        </p:txBody>
      </p:sp>
      <p:sp>
        <p:nvSpPr>
          <p:cNvPr id="5" name="link"/>
          <p:cNvSpPr txBox="1"/>
          <p:nvPr/>
        </p:nvSpPr>
        <p:spPr>
          <a:xfrm>
            <a:off x="640080" y="58521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E3"/>
                </a:solidFill>
              </a:rPr>
              <a:t>atulchandorkar.github.io/gitproject</a:t>
            </a:r>
            <a:endParaRPr lang="en-US" sz="1300" dirty="0"/>
          </a:p>
        </p:txBody>
      </p:sp>
      <p:sp>
        <p:nvSpPr>
          <p:cNvPr id="6" name="dashboard home screenshot frame"/>
          <p:cNvSpPr/>
          <p:nvPr/>
        </p:nvSpPr>
        <p:spPr>
          <a:xfrm>
            <a:off x="8494776" y="630936"/>
            <a:ext cx="2644913" cy="5596128"/>
          </a:xfrm>
          <a:prstGeom prst="roundRect">
            <a:avLst>
              <a:gd name="adj" fmla="val 6223"/>
            </a:avLst>
          </a:prstGeom>
          <a:solidFill>
            <a:srgbClr val="0B1B3F"/>
          </a:solidFill>
          <a:ln w="12700">
            <a:solidFill>
              <a:srgbClr val="0B1B3F"/>
            </a:solidFill>
            <a:prstDash val="solid"/>
          </a:ln>
        </p:spPr>
      </p:sp>
      <p:pic>
        <p:nvPicPr>
          <p:cNvPr id="7" name="dashboard home screenshot" descr="/tmp/claude-0/-home-user-gitproject/76f728fb-b6b8-5009-8919-0513037ebd7e/scratchpad/d_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549640" y="685800"/>
            <a:ext cx="2535185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trusted view of AI across Gulf banking</a:t>
            </a:r>
            <a:endParaRPr lang="en-US" sz="30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A daily, fact-checked feed of what GCC banks are doing with AI, on any phone</a:t>
            </a:r>
            <a:endParaRPr lang="en-US" sz="1600" dirty="0"/>
          </a:p>
        </p:txBody>
      </p:sp>
      <p:sp>
        <p:nvSpPr>
          <p:cNvPr id="4" name="stat verified AI items"/>
          <p:cNvSpPr/>
          <p:nvPr/>
        </p:nvSpPr>
        <p:spPr>
          <a:xfrm>
            <a:off x="548640" y="1828800"/>
            <a:ext cx="2606040" cy="1783080"/>
          </a:xfrm>
          <a:prstGeom prst="roundRect">
            <a:avLst>
              <a:gd name="adj" fmla="val 6154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5" name="stat value verified AI items"/>
          <p:cNvSpPr txBox="1"/>
          <p:nvPr/>
        </p:nvSpPr>
        <p:spPr>
          <a:xfrm>
            <a:off x="777240" y="19659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206</a:t>
            </a:r>
            <a:endParaRPr lang="en-US" sz="4800" dirty="0"/>
          </a:p>
        </p:txBody>
      </p:sp>
      <p:sp>
        <p:nvSpPr>
          <p:cNvPr id="6" name="stat label verified AI items"/>
          <p:cNvSpPr txBox="1"/>
          <p:nvPr/>
        </p:nvSpPr>
        <p:spPr>
          <a:xfrm>
            <a:off x="777240" y="28803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verified AI items</a:t>
            </a:r>
            <a:endParaRPr lang="en-US" sz="1400" dirty="0"/>
          </a:p>
        </p:txBody>
      </p:sp>
      <p:sp>
        <p:nvSpPr>
          <p:cNvPr id="7" name="stat banks with AI activity (74 tracked)"/>
          <p:cNvSpPr/>
          <p:nvPr/>
        </p:nvSpPr>
        <p:spPr>
          <a:xfrm>
            <a:off x="3360420" y="1828800"/>
            <a:ext cx="2606040" cy="1783080"/>
          </a:xfrm>
          <a:prstGeom prst="roundRect">
            <a:avLst>
              <a:gd name="adj" fmla="val 6154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8" name="stat value banks with AI activity (74 tracked)"/>
          <p:cNvSpPr txBox="1"/>
          <p:nvPr/>
        </p:nvSpPr>
        <p:spPr>
          <a:xfrm>
            <a:off x="3589020" y="19659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</a:t>
            </a:r>
            <a:endParaRPr lang="en-US" sz="4800" dirty="0"/>
          </a:p>
        </p:txBody>
      </p:sp>
      <p:sp>
        <p:nvSpPr>
          <p:cNvPr id="9" name="stat label banks with AI activity (74 tracked)"/>
          <p:cNvSpPr txBox="1"/>
          <p:nvPr/>
        </p:nvSpPr>
        <p:spPr>
          <a:xfrm>
            <a:off x="3589020" y="28803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banks with AI activity (74 tracked)</a:t>
            </a:r>
            <a:endParaRPr lang="en-US" sz="1400" dirty="0"/>
          </a:p>
        </p:txBody>
      </p:sp>
      <p:sp>
        <p:nvSpPr>
          <p:cNvPr id="10" name="stat GCC countries covered"/>
          <p:cNvSpPr/>
          <p:nvPr/>
        </p:nvSpPr>
        <p:spPr>
          <a:xfrm>
            <a:off x="6172200" y="1828800"/>
            <a:ext cx="2606040" cy="1783080"/>
          </a:xfrm>
          <a:prstGeom prst="roundRect">
            <a:avLst>
              <a:gd name="adj" fmla="val 6154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1" name="stat value GCC countries covered"/>
          <p:cNvSpPr txBox="1"/>
          <p:nvPr/>
        </p:nvSpPr>
        <p:spPr>
          <a:xfrm>
            <a:off x="6400800" y="19659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800" dirty="0"/>
          </a:p>
        </p:txBody>
      </p:sp>
      <p:sp>
        <p:nvSpPr>
          <p:cNvPr id="12" name="stat label GCC countries covered"/>
          <p:cNvSpPr txBox="1"/>
          <p:nvPr/>
        </p:nvSpPr>
        <p:spPr>
          <a:xfrm>
            <a:off x="6400800" y="28803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GCC countries covered</a:t>
            </a:r>
            <a:endParaRPr lang="en-US" sz="1400" dirty="0"/>
          </a:p>
        </p:txBody>
      </p:sp>
      <p:sp>
        <p:nvSpPr>
          <p:cNvPr id="13" name="stat global sector insights"/>
          <p:cNvSpPr/>
          <p:nvPr/>
        </p:nvSpPr>
        <p:spPr>
          <a:xfrm>
            <a:off x="8983980" y="1828800"/>
            <a:ext cx="2606040" cy="1783080"/>
          </a:xfrm>
          <a:prstGeom prst="roundRect">
            <a:avLst>
              <a:gd name="adj" fmla="val 6154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4" name="stat value global sector insights"/>
          <p:cNvSpPr txBox="1"/>
          <p:nvPr/>
        </p:nvSpPr>
        <p:spPr>
          <a:xfrm>
            <a:off x="9212580" y="19659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101</a:t>
            </a:r>
            <a:endParaRPr lang="en-US" sz="4800" dirty="0"/>
          </a:p>
        </p:txBody>
      </p:sp>
      <p:sp>
        <p:nvSpPr>
          <p:cNvPr id="15" name="stat label global sector insights"/>
          <p:cNvSpPr txBox="1"/>
          <p:nvPr/>
        </p:nvSpPr>
        <p:spPr>
          <a:xfrm>
            <a:off x="9212580" y="28803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global sector insights</a:t>
            </a:r>
            <a:endParaRPr lang="en-US" sz="1400" dirty="0"/>
          </a:p>
        </p:txBody>
      </p:sp>
      <p:sp>
        <p:nvSpPr>
          <p:cNvPr id="16" name="exec head What"/>
          <p:cNvSpPr txBox="1"/>
          <p:nvPr/>
        </p:nvSpPr>
        <p:spPr>
          <a:xfrm>
            <a:off x="548640" y="397764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</a:t>
            </a:r>
            <a:endParaRPr lang="en-US" sz="1800" dirty="0"/>
          </a:p>
        </p:txBody>
      </p:sp>
      <p:sp>
        <p:nvSpPr>
          <p:cNvPr id="17" name="exec text What"/>
          <p:cNvSpPr txBox="1"/>
          <p:nvPr/>
        </p:nvSpPr>
        <p:spPr>
          <a:xfrm>
            <a:off x="1645920" y="3977640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AI initiatives, investments, projects and outcomes from 74 GCC banks, plus global banking-AI studies and use cases.</a:t>
            </a:r>
            <a:endParaRPr lang="en-US" sz="1600" dirty="0"/>
          </a:p>
        </p:txBody>
      </p:sp>
      <p:sp>
        <p:nvSpPr>
          <p:cNvPr id="18" name="exec head Why"/>
          <p:cNvSpPr txBox="1"/>
          <p:nvPr/>
        </p:nvSpPr>
        <p:spPr>
          <a:xfrm>
            <a:off x="548640" y="470916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</a:t>
            </a:r>
            <a:endParaRPr lang="en-US" sz="1800" dirty="0"/>
          </a:p>
        </p:txBody>
      </p:sp>
      <p:sp>
        <p:nvSpPr>
          <p:cNvPr id="19" name="exec text Why"/>
          <p:cNvSpPr txBox="1"/>
          <p:nvPr/>
        </p:nvSpPr>
        <p:spPr>
          <a:xfrm>
            <a:off x="1645920" y="4709160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One reliable source for the Head of AI and leadership to benchmark peers and spot trends early.</a:t>
            </a:r>
            <a:endParaRPr lang="en-US" sz="1600" dirty="0"/>
          </a:p>
        </p:txBody>
      </p:sp>
      <p:sp>
        <p:nvSpPr>
          <p:cNvPr id="20" name="exec head How"/>
          <p:cNvSpPr txBox="1"/>
          <p:nvPr/>
        </p:nvSpPr>
        <p:spPr>
          <a:xfrm>
            <a:off x="548640" y="544068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</a:t>
            </a:r>
            <a:endParaRPr lang="en-US" sz="1800" dirty="0"/>
          </a:p>
        </p:txBody>
      </p:sp>
      <p:sp>
        <p:nvSpPr>
          <p:cNvPr id="21" name="exec text How"/>
          <p:cNvSpPr txBox="1"/>
          <p:nvPr/>
        </p:nvSpPr>
        <p:spPr>
          <a:xfrm>
            <a:off x="1645920" y="5440680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An AI agent collects and fact-checks news daily; results go to a mobile dashboard and Telegram.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built it</a:t>
            </a:r>
            <a:endParaRPr lang="en-US" sz="30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Tracking peers' AI moves by hand is slow, scattered and unreliable</a:t>
            </a:r>
            <a:endParaRPr lang="en-US" sz="1600" dirty="0"/>
          </a:p>
        </p:txBody>
      </p:sp>
      <p:sp>
        <p:nvSpPr>
          <p:cNvPr id="4" name="need Scattered sources"/>
          <p:cNvSpPr/>
          <p:nvPr/>
        </p:nvSpPr>
        <p:spPr>
          <a:xfrm>
            <a:off x="548640" y="1828800"/>
            <a:ext cx="3520440" cy="2377440"/>
          </a:xfrm>
          <a:prstGeom prst="roundRect">
            <a:avLst>
              <a:gd name="adj" fmla="val 4615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5" name="icon circle"/>
          <p:cNvSpPr/>
          <p:nvPr/>
        </p:nvSpPr>
        <p:spPr>
          <a:xfrm>
            <a:off x="822960" y="2103120"/>
            <a:ext cx="566928" cy="566928"/>
          </a:xfrm>
          <a:prstGeom prst="ellipse">
            <a:avLst/>
          </a:prstGeom>
          <a:solidFill>
            <a:srgbClr val="0B1B3F"/>
          </a:solidFill>
          <a:ln w="12700">
            <a:solidFill>
              <a:srgbClr val="0B1B3F"/>
            </a:solidFill>
            <a:prstDash val="solid"/>
          </a:ln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684" y="2227844"/>
            <a:ext cx="317480" cy="317480"/>
          </a:xfrm>
          <a:prstGeom prst="rect">
            <a:avLst/>
          </a:prstGeom>
        </p:spPr>
      </p:pic>
      <p:sp>
        <p:nvSpPr>
          <p:cNvPr id="7" name="need head Scattered sources"/>
          <p:cNvSpPr txBox="1"/>
          <p:nvPr/>
        </p:nvSpPr>
        <p:spPr>
          <a:xfrm>
            <a:off x="822960" y="27889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Scattered sources</a:t>
            </a:r>
            <a:endParaRPr lang="en-US" sz="2000" dirty="0"/>
          </a:p>
        </p:txBody>
      </p:sp>
      <p:sp>
        <p:nvSpPr>
          <p:cNvPr id="8" name="need text Scattered sources"/>
          <p:cNvSpPr txBox="1"/>
          <p:nvPr/>
        </p:nvSpPr>
        <p:spPr>
          <a:xfrm>
            <a:off x="822960" y="32004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74 banks, 6 countries, English and Arabic press, bank newsrooms and annual reports.</a:t>
            </a:r>
            <a:endParaRPr lang="en-US" sz="1500" dirty="0"/>
          </a:p>
        </p:txBody>
      </p:sp>
      <p:sp>
        <p:nvSpPr>
          <p:cNvPr id="9" name="need Noise and duplicates"/>
          <p:cNvSpPr/>
          <p:nvPr/>
        </p:nvSpPr>
        <p:spPr>
          <a:xfrm>
            <a:off x="4297680" y="1828800"/>
            <a:ext cx="3520440" cy="2377440"/>
          </a:xfrm>
          <a:prstGeom prst="roundRect">
            <a:avLst>
              <a:gd name="adj" fmla="val 4615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0" name="icon circle"/>
          <p:cNvSpPr/>
          <p:nvPr/>
        </p:nvSpPr>
        <p:spPr>
          <a:xfrm>
            <a:off x="4572000" y="2103120"/>
            <a:ext cx="566928" cy="566928"/>
          </a:xfrm>
          <a:prstGeom prst="ellipse">
            <a:avLst/>
          </a:prstGeom>
          <a:solidFill>
            <a:srgbClr val="0B1B3F"/>
          </a:solidFill>
          <a:ln w="12700">
            <a:solidFill>
              <a:srgbClr val="0B1B3F"/>
            </a:solidFill>
            <a:prstDash val="solid"/>
          </a:ln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6724" y="2227844"/>
            <a:ext cx="317480" cy="317480"/>
          </a:xfrm>
          <a:prstGeom prst="rect">
            <a:avLst/>
          </a:prstGeom>
        </p:spPr>
      </p:pic>
      <p:sp>
        <p:nvSpPr>
          <p:cNvPr id="12" name="need head Noise and duplicates"/>
          <p:cNvSpPr txBox="1"/>
          <p:nvPr/>
        </p:nvSpPr>
        <p:spPr>
          <a:xfrm>
            <a:off x="4572000" y="27889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Noise and duplicates</a:t>
            </a:r>
            <a:endParaRPr lang="en-US" sz="2000" dirty="0"/>
          </a:p>
        </p:txBody>
      </p:sp>
      <p:sp>
        <p:nvSpPr>
          <p:cNvPr id="13" name="need text Noise and duplicates"/>
          <p:cNvSpPr txBox="1"/>
          <p:nvPr/>
        </p:nvSpPr>
        <p:spPr>
          <a:xfrm>
            <a:off x="4572000" y="32004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same story appears in many outlets; hype and fintech news blur the picture.</a:t>
            </a:r>
            <a:endParaRPr lang="en-US" sz="1500" dirty="0"/>
          </a:p>
        </p:txBody>
      </p:sp>
      <p:sp>
        <p:nvSpPr>
          <p:cNvPr id="14" name="need No time to track"/>
          <p:cNvSpPr/>
          <p:nvPr/>
        </p:nvSpPr>
        <p:spPr>
          <a:xfrm>
            <a:off x="8046720" y="1828800"/>
            <a:ext cx="3520440" cy="2377440"/>
          </a:xfrm>
          <a:prstGeom prst="roundRect">
            <a:avLst>
              <a:gd name="adj" fmla="val 4615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5" name="icon circle"/>
          <p:cNvSpPr/>
          <p:nvPr/>
        </p:nvSpPr>
        <p:spPr>
          <a:xfrm>
            <a:off x="8321040" y="2103120"/>
            <a:ext cx="566928" cy="566928"/>
          </a:xfrm>
          <a:prstGeom prst="ellipse">
            <a:avLst/>
          </a:prstGeom>
          <a:solidFill>
            <a:srgbClr val="0B1B3F"/>
          </a:solidFill>
          <a:ln w="12700">
            <a:solidFill>
              <a:srgbClr val="0B1B3F"/>
            </a:solidFill>
            <a:prstDash val="solid"/>
          </a:ln>
        </p:spPr>
      </p:sp>
      <p:pic>
        <p:nvPicPr>
          <p:cNvPr id="16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5764" y="2227844"/>
            <a:ext cx="317480" cy="317480"/>
          </a:xfrm>
          <a:prstGeom prst="rect">
            <a:avLst/>
          </a:prstGeom>
        </p:spPr>
      </p:pic>
      <p:sp>
        <p:nvSpPr>
          <p:cNvPr id="17" name="need head No time to track"/>
          <p:cNvSpPr txBox="1"/>
          <p:nvPr/>
        </p:nvSpPr>
        <p:spPr>
          <a:xfrm>
            <a:off x="8321040" y="27889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time to track</a:t>
            </a:r>
            <a:endParaRPr lang="en-US" sz="2000" dirty="0"/>
          </a:p>
        </p:txBody>
      </p:sp>
      <p:sp>
        <p:nvSpPr>
          <p:cNvPr id="18" name="need text No time to track"/>
          <p:cNvSpPr txBox="1"/>
          <p:nvPr/>
        </p:nvSpPr>
        <p:spPr>
          <a:xfrm>
            <a:off x="8321040" y="32004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Leadership needs a quick, trusted view, not hours of searching every week.</a:t>
            </a:r>
            <a:endParaRPr lang="en-US" sz="1500" dirty="0"/>
          </a:p>
        </p:txBody>
      </p:sp>
      <p:sp>
        <p:nvSpPr>
          <p:cNvPr id="19" name="answer band"/>
          <p:cNvSpPr/>
          <p:nvPr/>
        </p:nvSpPr>
        <p:spPr>
          <a:xfrm>
            <a:off x="548640" y="457200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0B1B3F"/>
          </a:solidFill>
          <a:ln w="12700">
            <a:solidFill>
              <a:srgbClr val="0B1B3F"/>
            </a:solidFill>
            <a:prstDash val="solid"/>
          </a:ln>
        </p:spPr>
      </p:sp>
      <p:sp>
        <p:nvSpPr>
          <p:cNvPr id="20" name="icon circle"/>
          <p:cNvSpPr/>
          <p:nvPr/>
        </p:nvSpPr>
        <p:spPr>
          <a:xfrm>
            <a:off x="868680" y="5001768"/>
            <a:ext cx="566928" cy="566928"/>
          </a:xfrm>
          <a:prstGeom prst="ellipse">
            <a:avLst/>
          </a:prstGeom>
          <a:solidFill>
            <a:srgbClr val="E9B949"/>
          </a:solidFill>
          <a:ln w="12700">
            <a:solidFill>
              <a:srgbClr val="E9B949"/>
            </a:solidFill>
            <a:prstDash val="solid"/>
          </a:ln>
        </p:spPr>
      </p:sp>
      <p:pic>
        <p:nvPicPr>
          <p:cNvPr id="21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404" y="5126492"/>
            <a:ext cx="317480" cy="317480"/>
          </a:xfrm>
          <a:prstGeom prst="rect">
            <a:avLst/>
          </a:prstGeom>
        </p:spPr>
      </p:pic>
      <p:sp>
        <p:nvSpPr>
          <p:cNvPr id="22" name="answer text"/>
          <p:cNvSpPr txBox="1"/>
          <p:nvPr/>
        </p:nvSpPr>
        <p:spPr>
          <a:xfrm>
            <a:off x="1691640" y="4709160"/>
            <a:ext cx="9692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B949"/>
                </a:solidFill>
              </a:rPr>
              <a:t>The answer: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an automated monitor that finds, verifies and organises every bank AI announcement, and pushes what is new.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solution does</a:t>
            </a:r>
            <a:endParaRPr lang="en-US" sz="3000" dirty="0"/>
          </a:p>
        </p:txBody>
      </p:sp>
      <p:sp>
        <p:nvSpPr>
          <p:cNvPr id="3" name="feature Bank AI news"/>
          <p:cNvSpPr/>
          <p:nvPr/>
        </p:nvSpPr>
        <p:spPr>
          <a:xfrm>
            <a:off x="548640" y="141732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4" name="icon circle"/>
          <p:cNvSpPr/>
          <p:nvPr/>
        </p:nvSpPr>
        <p:spPr>
          <a:xfrm>
            <a:off x="822960" y="1691640"/>
            <a:ext cx="640080" cy="640080"/>
          </a:xfrm>
          <a:prstGeom prst="ellipse">
            <a:avLst/>
          </a:prstGeom>
          <a:solidFill>
            <a:srgbClr val="0B1B3F"/>
          </a:solidFill>
          <a:ln w="12700">
            <a:solidFill>
              <a:srgbClr val="0B1B3F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778" y="1832458"/>
            <a:ext cx="358445" cy="358445"/>
          </a:xfrm>
          <a:prstGeom prst="rect">
            <a:avLst/>
          </a:prstGeom>
        </p:spPr>
      </p:pic>
      <p:sp>
        <p:nvSpPr>
          <p:cNvPr id="6" name="feature head Bank AI news"/>
          <p:cNvSpPr txBox="1"/>
          <p:nvPr/>
        </p:nvSpPr>
        <p:spPr>
          <a:xfrm>
            <a:off x="822960" y="24688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 AI news</a:t>
            </a:r>
            <a:endParaRPr lang="en-US" sz="1900" dirty="0"/>
          </a:p>
        </p:txBody>
      </p:sp>
      <p:sp>
        <p:nvSpPr>
          <p:cNvPr id="7" name="feature text Bank AI news"/>
          <p:cNvSpPr txBox="1"/>
          <p:nvPr/>
        </p:nvSpPr>
        <p:spPr>
          <a:xfrm>
            <a:off x="822960" y="28803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74 GCC banks, English + Arabic</a:t>
            </a:r>
            <a:endParaRPr lang="en-US" sz="1400" dirty="0"/>
          </a:p>
        </p:txBody>
      </p:sp>
      <p:sp>
        <p:nvSpPr>
          <p:cNvPr id="8" name="feature Telegram alerts"/>
          <p:cNvSpPr/>
          <p:nvPr/>
        </p:nvSpPr>
        <p:spPr>
          <a:xfrm>
            <a:off x="3360420" y="141732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9" name="icon circle"/>
          <p:cNvSpPr/>
          <p:nvPr/>
        </p:nvSpPr>
        <p:spPr>
          <a:xfrm>
            <a:off x="3634740" y="1691640"/>
            <a:ext cx="640080" cy="640080"/>
          </a:xfrm>
          <a:prstGeom prst="ellipse">
            <a:avLst/>
          </a:prstGeom>
          <a:solidFill>
            <a:srgbClr val="0B1B3F"/>
          </a:solidFill>
          <a:ln w="12700">
            <a:solidFill>
              <a:srgbClr val="0B1B3F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5558" y="1832458"/>
            <a:ext cx="358445" cy="358445"/>
          </a:xfrm>
          <a:prstGeom prst="rect">
            <a:avLst/>
          </a:prstGeom>
        </p:spPr>
      </p:pic>
      <p:sp>
        <p:nvSpPr>
          <p:cNvPr id="11" name="feature head Telegram alerts"/>
          <p:cNvSpPr txBox="1"/>
          <p:nvPr/>
        </p:nvSpPr>
        <p:spPr>
          <a:xfrm>
            <a:off x="3634740" y="24688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Telegram alerts</a:t>
            </a:r>
            <a:endParaRPr lang="en-US" sz="1900" dirty="0"/>
          </a:p>
        </p:txBody>
      </p:sp>
      <p:sp>
        <p:nvSpPr>
          <p:cNvPr id="12" name="feature text Telegram alerts"/>
          <p:cNvSpPr txBox="1"/>
          <p:nvPr/>
        </p:nvSpPr>
        <p:spPr>
          <a:xfrm>
            <a:off x="3634740" y="28803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New items pushed daily</a:t>
            </a:r>
            <a:endParaRPr lang="en-US" sz="1400" dirty="0"/>
          </a:p>
        </p:txBody>
      </p:sp>
      <p:sp>
        <p:nvSpPr>
          <p:cNvPr id="13" name="feature Smart filters"/>
          <p:cNvSpPr/>
          <p:nvPr/>
        </p:nvSpPr>
        <p:spPr>
          <a:xfrm>
            <a:off x="6172200" y="141732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4" name="icon circle"/>
          <p:cNvSpPr/>
          <p:nvPr/>
        </p:nvSpPr>
        <p:spPr>
          <a:xfrm>
            <a:off x="6446520" y="1691640"/>
            <a:ext cx="640080" cy="640080"/>
          </a:xfrm>
          <a:prstGeom prst="ellipse">
            <a:avLst/>
          </a:prstGeom>
          <a:solidFill>
            <a:srgbClr val="0B1B3F"/>
          </a:solidFill>
          <a:ln w="12700">
            <a:solidFill>
              <a:srgbClr val="0B1B3F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7338" y="1832458"/>
            <a:ext cx="358445" cy="358445"/>
          </a:xfrm>
          <a:prstGeom prst="rect">
            <a:avLst/>
          </a:prstGeom>
        </p:spPr>
      </p:pic>
      <p:sp>
        <p:nvSpPr>
          <p:cNvPr id="16" name="feature head Smart filters"/>
          <p:cNvSpPr txBox="1"/>
          <p:nvPr/>
        </p:nvSpPr>
        <p:spPr>
          <a:xfrm>
            <a:off x="6446520" y="24688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filters</a:t>
            </a:r>
            <a:endParaRPr lang="en-US" sz="1900" dirty="0"/>
          </a:p>
        </p:txBody>
      </p:sp>
      <p:sp>
        <p:nvSpPr>
          <p:cNvPr id="17" name="feature text Smart filters"/>
          <p:cNvSpPr txBox="1"/>
          <p:nvPr/>
        </p:nvSpPr>
        <p:spPr>
          <a:xfrm>
            <a:off x="6446520" y="28803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Country, bank, theme, period</a:t>
            </a:r>
            <a:endParaRPr lang="en-US" sz="1400" dirty="0"/>
          </a:p>
        </p:txBody>
      </p:sp>
      <p:sp>
        <p:nvSpPr>
          <p:cNvPr id="18" name="feature 2-year history"/>
          <p:cNvSpPr/>
          <p:nvPr/>
        </p:nvSpPr>
        <p:spPr>
          <a:xfrm>
            <a:off x="8983980" y="141732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9" name="icon circle"/>
          <p:cNvSpPr/>
          <p:nvPr/>
        </p:nvSpPr>
        <p:spPr>
          <a:xfrm>
            <a:off x="9258300" y="1691640"/>
            <a:ext cx="640080" cy="640080"/>
          </a:xfrm>
          <a:prstGeom prst="ellipse">
            <a:avLst/>
          </a:prstGeom>
          <a:solidFill>
            <a:srgbClr val="0B1B3F"/>
          </a:solidFill>
          <a:ln w="12700">
            <a:solidFill>
              <a:srgbClr val="0B1B3F"/>
            </a:solidFill>
            <a:prstDash val="solid"/>
          </a:ln>
        </p:spPr>
      </p:sp>
      <p:pic>
        <p:nvPicPr>
          <p:cNvPr id="20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9118" y="1832458"/>
            <a:ext cx="358445" cy="358445"/>
          </a:xfrm>
          <a:prstGeom prst="rect">
            <a:avLst/>
          </a:prstGeom>
        </p:spPr>
      </p:pic>
      <p:sp>
        <p:nvSpPr>
          <p:cNvPr id="21" name="feature head 2-year history"/>
          <p:cNvSpPr txBox="1"/>
          <p:nvPr/>
        </p:nvSpPr>
        <p:spPr>
          <a:xfrm>
            <a:off x="9258300" y="24688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2-year history</a:t>
            </a:r>
            <a:endParaRPr lang="en-US" sz="1900" dirty="0"/>
          </a:p>
        </p:txBody>
      </p:sp>
      <p:sp>
        <p:nvSpPr>
          <p:cNvPr id="22" name="feature text 2-year history"/>
          <p:cNvSpPr txBox="1"/>
          <p:nvPr/>
        </p:nvSpPr>
        <p:spPr>
          <a:xfrm>
            <a:off x="9258300" y="28803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Updated every morning</a:t>
            </a:r>
            <a:endParaRPr lang="en-US" sz="1400" dirty="0"/>
          </a:p>
        </p:txBody>
      </p:sp>
      <p:sp>
        <p:nvSpPr>
          <p:cNvPr id="23" name="feature Verified"/>
          <p:cNvSpPr/>
          <p:nvPr/>
        </p:nvSpPr>
        <p:spPr>
          <a:xfrm>
            <a:off x="548640" y="379476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24" name="icon circle"/>
          <p:cNvSpPr/>
          <p:nvPr/>
        </p:nvSpPr>
        <p:spPr>
          <a:xfrm>
            <a:off x="822960" y="4069080"/>
            <a:ext cx="640080" cy="640080"/>
          </a:xfrm>
          <a:prstGeom prst="ellipse">
            <a:avLst/>
          </a:prstGeom>
          <a:solidFill>
            <a:srgbClr val="0B1B3F"/>
          </a:solidFill>
          <a:ln w="12700">
            <a:solidFill>
              <a:srgbClr val="0B1B3F"/>
            </a:solidFill>
            <a:prstDash val="solid"/>
          </a:ln>
        </p:spPr>
      </p:sp>
      <p:pic>
        <p:nvPicPr>
          <p:cNvPr id="25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778" y="4209898"/>
            <a:ext cx="358445" cy="358445"/>
          </a:xfrm>
          <a:prstGeom prst="rect">
            <a:avLst/>
          </a:prstGeom>
        </p:spPr>
      </p:pic>
      <p:sp>
        <p:nvSpPr>
          <p:cNvPr id="26" name="feature head Verified"/>
          <p:cNvSpPr txBox="1"/>
          <p:nvPr/>
        </p:nvSpPr>
        <p:spPr>
          <a:xfrm>
            <a:off x="822960" y="4846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</a:t>
            </a:r>
            <a:endParaRPr lang="en-US" sz="1900" dirty="0"/>
          </a:p>
        </p:txBody>
      </p:sp>
      <p:sp>
        <p:nvSpPr>
          <p:cNvPr id="27" name="feature text Verified"/>
          <p:cNvSpPr txBox="1"/>
          <p:nvPr/>
        </p:nvSpPr>
        <p:spPr>
          <a:xfrm>
            <a:off x="822960" y="52578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Fact-checked, with sources</a:t>
            </a:r>
            <a:endParaRPr lang="en-US" sz="1400" dirty="0"/>
          </a:p>
        </p:txBody>
      </p:sp>
      <p:sp>
        <p:nvSpPr>
          <p:cNvPr id="28" name="feature No duplicates"/>
          <p:cNvSpPr/>
          <p:nvPr/>
        </p:nvSpPr>
        <p:spPr>
          <a:xfrm>
            <a:off x="3360420" y="379476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29" name="icon circle"/>
          <p:cNvSpPr/>
          <p:nvPr/>
        </p:nvSpPr>
        <p:spPr>
          <a:xfrm>
            <a:off x="3634740" y="4069080"/>
            <a:ext cx="640080" cy="640080"/>
          </a:xfrm>
          <a:prstGeom prst="ellipse">
            <a:avLst/>
          </a:prstGeom>
          <a:solidFill>
            <a:srgbClr val="0B1B3F"/>
          </a:solidFill>
          <a:ln w="12700">
            <a:solidFill>
              <a:srgbClr val="0B1B3F"/>
            </a:solidFill>
            <a:prstDash val="solid"/>
          </a:ln>
        </p:spPr>
      </p:sp>
      <p:pic>
        <p:nvPicPr>
          <p:cNvPr id="30" name="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5558" y="4209898"/>
            <a:ext cx="358445" cy="358445"/>
          </a:xfrm>
          <a:prstGeom prst="rect">
            <a:avLst/>
          </a:prstGeom>
        </p:spPr>
      </p:pic>
      <p:sp>
        <p:nvSpPr>
          <p:cNvPr id="31" name="feature head No duplicates"/>
          <p:cNvSpPr txBox="1"/>
          <p:nvPr/>
        </p:nvSpPr>
        <p:spPr>
          <a:xfrm>
            <a:off x="3634740" y="4846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duplicates</a:t>
            </a:r>
            <a:endParaRPr lang="en-US" sz="1900" dirty="0"/>
          </a:p>
        </p:txBody>
      </p:sp>
      <p:sp>
        <p:nvSpPr>
          <p:cNvPr id="32" name="feature text No duplicates"/>
          <p:cNvSpPr txBox="1"/>
          <p:nvPr/>
        </p:nvSpPr>
        <p:spPr>
          <a:xfrm>
            <a:off x="3634740" y="52578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One card per story</a:t>
            </a:r>
            <a:endParaRPr lang="en-US" sz="1400" dirty="0"/>
          </a:p>
        </p:txBody>
      </p:sp>
      <p:sp>
        <p:nvSpPr>
          <p:cNvPr id="33" name="feature Annual reports"/>
          <p:cNvSpPr/>
          <p:nvPr/>
        </p:nvSpPr>
        <p:spPr>
          <a:xfrm>
            <a:off x="6172200" y="379476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34" name="icon circle"/>
          <p:cNvSpPr/>
          <p:nvPr/>
        </p:nvSpPr>
        <p:spPr>
          <a:xfrm>
            <a:off x="6446520" y="4069080"/>
            <a:ext cx="640080" cy="640080"/>
          </a:xfrm>
          <a:prstGeom prst="ellipse">
            <a:avLst/>
          </a:prstGeom>
          <a:solidFill>
            <a:srgbClr val="0B1B3F"/>
          </a:solidFill>
          <a:ln w="12700">
            <a:solidFill>
              <a:srgbClr val="0B1B3F"/>
            </a:solidFill>
            <a:prstDash val="solid"/>
          </a:ln>
        </p:spPr>
      </p:sp>
      <p:pic>
        <p:nvPicPr>
          <p:cNvPr id="35" name="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7338" y="4209898"/>
            <a:ext cx="358445" cy="358445"/>
          </a:xfrm>
          <a:prstGeom prst="rect">
            <a:avLst/>
          </a:prstGeom>
        </p:spPr>
      </p:pic>
      <p:sp>
        <p:nvSpPr>
          <p:cNvPr id="36" name="feature head Annual reports"/>
          <p:cNvSpPr txBox="1"/>
          <p:nvPr/>
        </p:nvSpPr>
        <p:spPr>
          <a:xfrm>
            <a:off x="6446520" y="4846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Annual reports</a:t>
            </a:r>
            <a:endParaRPr lang="en-US" sz="1900" dirty="0"/>
          </a:p>
        </p:txBody>
      </p:sp>
      <p:sp>
        <p:nvSpPr>
          <p:cNvPr id="37" name="feature text Annual reports"/>
          <p:cNvSpPr txBox="1"/>
          <p:nvPr/>
        </p:nvSpPr>
        <p:spPr>
          <a:xfrm>
            <a:off x="6446520" y="52578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AI highlights + PDF links</a:t>
            </a:r>
            <a:endParaRPr lang="en-US" sz="1400" dirty="0"/>
          </a:p>
        </p:txBody>
      </p:sp>
      <p:sp>
        <p:nvSpPr>
          <p:cNvPr id="38" name="feature Global insights"/>
          <p:cNvSpPr/>
          <p:nvPr/>
        </p:nvSpPr>
        <p:spPr>
          <a:xfrm>
            <a:off x="8983980" y="379476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39" name="icon circle"/>
          <p:cNvSpPr/>
          <p:nvPr/>
        </p:nvSpPr>
        <p:spPr>
          <a:xfrm>
            <a:off x="9258300" y="4069080"/>
            <a:ext cx="640080" cy="640080"/>
          </a:xfrm>
          <a:prstGeom prst="ellipse">
            <a:avLst/>
          </a:prstGeom>
          <a:solidFill>
            <a:srgbClr val="0B1B3F"/>
          </a:solidFill>
          <a:ln w="12700">
            <a:solidFill>
              <a:srgbClr val="0B1B3F"/>
            </a:solidFill>
            <a:prstDash val="solid"/>
          </a:ln>
        </p:spPr>
      </p:sp>
      <p:pic>
        <p:nvPicPr>
          <p:cNvPr id="40" name="icon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99118" y="4209898"/>
            <a:ext cx="358445" cy="358445"/>
          </a:xfrm>
          <a:prstGeom prst="rect">
            <a:avLst/>
          </a:prstGeom>
        </p:spPr>
      </p:pic>
      <p:sp>
        <p:nvSpPr>
          <p:cNvPr id="41" name="feature head Global insights"/>
          <p:cNvSpPr txBox="1"/>
          <p:nvPr/>
        </p:nvSpPr>
        <p:spPr>
          <a:xfrm>
            <a:off x="9258300" y="4846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insights</a:t>
            </a:r>
            <a:endParaRPr lang="en-US" sz="1900" dirty="0"/>
          </a:p>
        </p:txBody>
      </p:sp>
      <p:sp>
        <p:nvSpPr>
          <p:cNvPr id="42" name="feature text Global insights"/>
          <p:cNvSpPr txBox="1"/>
          <p:nvPr/>
        </p:nvSpPr>
        <p:spPr>
          <a:xfrm>
            <a:off x="9258300" y="52578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Studies, use cases, regulation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the phone, shareable by link</a:t>
            </a:r>
            <a:endParaRPr lang="en-US" sz="3000" dirty="0"/>
          </a:p>
        </p:txBody>
      </p:sp>
      <p:sp>
        <p:nvSpPr>
          <p:cNvPr id="3" name="screenshot News feed frame"/>
          <p:cNvSpPr/>
          <p:nvPr/>
        </p:nvSpPr>
        <p:spPr>
          <a:xfrm>
            <a:off x="859536" y="1271016"/>
            <a:ext cx="1968864" cy="4133088"/>
          </a:xfrm>
          <a:prstGeom prst="roundRect">
            <a:avLst>
              <a:gd name="adj" fmla="val 8360"/>
            </a:avLst>
          </a:prstGeom>
          <a:solidFill>
            <a:srgbClr val="0B1B3F"/>
          </a:solidFill>
          <a:ln w="12700">
            <a:solidFill>
              <a:srgbClr val="0B1B3F"/>
            </a:solidFill>
            <a:prstDash val="solid"/>
          </a:ln>
        </p:spPr>
      </p:sp>
      <p:pic>
        <p:nvPicPr>
          <p:cNvPr id="4" name="screenshot News feed" descr="/tmp/claude-0/-home-user-gitproject/76f728fb-b6b8-5009-8919-0513037ebd7e/scratchpad/d_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325880"/>
            <a:ext cx="1859136" cy="4023360"/>
          </a:xfrm>
          <a:prstGeom prst="rect">
            <a:avLst/>
          </a:prstGeom>
        </p:spPr>
      </p:pic>
      <p:sp>
        <p:nvSpPr>
          <p:cNvPr id="5" name="tour head News feed"/>
          <p:cNvSpPr txBox="1"/>
          <p:nvPr/>
        </p:nvSpPr>
        <p:spPr>
          <a:xfrm>
            <a:off x="685800" y="5486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News feed</a:t>
            </a:r>
            <a:endParaRPr lang="en-US" sz="1700" dirty="0"/>
          </a:p>
        </p:txBody>
      </p:sp>
      <p:sp>
        <p:nvSpPr>
          <p:cNvPr id="6" name="tour text News feed"/>
          <p:cNvSpPr txBox="1"/>
          <p:nvPr/>
        </p:nvSpPr>
        <p:spPr>
          <a:xfrm>
            <a:off x="685800" y="58338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Live KPIs, country strip and verified bank AI news</a:t>
            </a:r>
            <a:endParaRPr lang="en-US" sz="1200" dirty="0"/>
          </a:p>
        </p:txBody>
      </p:sp>
      <p:sp>
        <p:nvSpPr>
          <p:cNvPr id="7" name="screenshot Insights frame"/>
          <p:cNvSpPr/>
          <p:nvPr/>
        </p:nvSpPr>
        <p:spPr>
          <a:xfrm>
            <a:off x="3694176" y="1271016"/>
            <a:ext cx="1968864" cy="4133088"/>
          </a:xfrm>
          <a:prstGeom prst="roundRect">
            <a:avLst>
              <a:gd name="adj" fmla="val 8360"/>
            </a:avLst>
          </a:prstGeom>
          <a:solidFill>
            <a:srgbClr val="0B1B3F"/>
          </a:solidFill>
          <a:ln w="12700">
            <a:solidFill>
              <a:srgbClr val="0B1B3F"/>
            </a:solidFill>
            <a:prstDash val="solid"/>
          </a:ln>
        </p:spPr>
      </p:sp>
      <p:pic>
        <p:nvPicPr>
          <p:cNvPr id="8" name="screenshot Insights" descr="/tmp/claude-0/-home-user-gitproject/76f728fb-b6b8-5009-8919-0513037ebd7e/scratchpad/d_insight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749040" y="1325880"/>
            <a:ext cx="1859136" cy="4023360"/>
          </a:xfrm>
          <a:prstGeom prst="rect">
            <a:avLst/>
          </a:prstGeom>
        </p:spPr>
      </p:pic>
      <p:sp>
        <p:nvSpPr>
          <p:cNvPr id="9" name="tour head Insights"/>
          <p:cNvSpPr txBox="1"/>
          <p:nvPr/>
        </p:nvSpPr>
        <p:spPr>
          <a:xfrm>
            <a:off x="3520440" y="5486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</a:t>
            </a:r>
            <a:endParaRPr lang="en-US" sz="1700" dirty="0"/>
          </a:p>
        </p:txBody>
      </p:sp>
      <p:sp>
        <p:nvSpPr>
          <p:cNvPr id="10" name="tour text Insights"/>
          <p:cNvSpPr txBox="1"/>
          <p:nvPr/>
        </p:nvSpPr>
        <p:spPr>
          <a:xfrm>
            <a:off x="3520440" y="58338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AI themes, tech partners and monthly trend</a:t>
            </a:r>
            <a:endParaRPr lang="en-US" sz="1200" dirty="0"/>
          </a:p>
        </p:txBody>
      </p:sp>
      <p:sp>
        <p:nvSpPr>
          <p:cNvPr id="11" name="screenshot Sector insights frame"/>
          <p:cNvSpPr/>
          <p:nvPr/>
        </p:nvSpPr>
        <p:spPr>
          <a:xfrm>
            <a:off x="6528816" y="1271016"/>
            <a:ext cx="1968864" cy="4133088"/>
          </a:xfrm>
          <a:prstGeom prst="roundRect">
            <a:avLst>
              <a:gd name="adj" fmla="val 8360"/>
            </a:avLst>
          </a:prstGeom>
          <a:solidFill>
            <a:srgbClr val="0B1B3F"/>
          </a:solidFill>
          <a:ln w="12700">
            <a:solidFill>
              <a:srgbClr val="0B1B3F"/>
            </a:solidFill>
            <a:prstDash val="solid"/>
          </a:ln>
        </p:spPr>
      </p:sp>
      <p:pic>
        <p:nvPicPr>
          <p:cNvPr id="12" name="screenshot Sector insights" descr="/tmp/claude-0/-home-user-gitproject/76f728fb-b6b8-5009-8919-0513037ebd7e/scratchpad/d_sector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583680" y="1325880"/>
            <a:ext cx="1859136" cy="4023360"/>
          </a:xfrm>
          <a:prstGeom prst="rect">
            <a:avLst/>
          </a:prstGeom>
        </p:spPr>
      </p:pic>
      <p:sp>
        <p:nvSpPr>
          <p:cNvPr id="13" name="tour head Sector insights"/>
          <p:cNvSpPr txBox="1"/>
          <p:nvPr/>
        </p:nvSpPr>
        <p:spPr>
          <a:xfrm>
            <a:off x="6355080" y="5486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Sector insights</a:t>
            </a:r>
            <a:endParaRPr lang="en-US" sz="1700" dirty="0"/>
          </a:p>
        </p:txBody>
      </p:sp>
      <p:sp>
        <p:nvSpPr>
          <p:cNvPr id="14" name="tour text Sector insights"/>
          <p:cNvSpPr txBox="1"/>
          <p:nvPr/>
        </p:nvSpPr>
        <p:spPr>
          <a:xfrm>
            <a:off x="6355080" y="58338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Global studies, use cases, regulation</a:t>
            </a:r>
            <a:endParaRPr lang="en-US" sz="1200" dirty="0"/>
          </a:p>
        </p:txBody>
      </p:sp>
      <p:sp>
        <p:nvSpPr>
          <p:cNvPr id="15" name="screenshot Annual reports frame"/>
          <p:cNvSpPr/>
          <p:nvPr/>
        </p:nvSpPr>
        <p:spPr>
          <a:xfrm>
            <a:off x="9363456" y="1271016"/>
            <a:ext cx="1968864" cy="4133088"/>
          </a:xfrm>
          <a:prstGeom prst="roundRect">
            <a:avLst>
              <a:gd name="adj" fmla="val 8360"/>
            </a:avLst>
          </a:prstGeom>
          <a:solidFill>
            <a:srgbClr val="0B1B3F"/>
          </a:solidFill>
          <a:ln w="12700">
            <a:solidFill>
              <a:srgbClr val="0B1B3F"/>
            </a:solidFill>
            <a:prstDash val="solid"/>
          </a:ln>
        </p:spPr>
      </p:sp>
      <p:pic>
        <p:nvPicPr>
          <p:cNvPr id="16" name="screenshot Annual reports" descr="/tmp/claude-0/-home-user-gitproject/76f728fb-b6b8-5009-8919-0513037ebd7e/scratchpad/d_ar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418320" y="1325880"/>
            <a:ext cx="1859136" cy="4023360"/>
          </a:xfrm>
          <a:prstGeom prst="rect">
            <a:avLst/>
          </a:prstGeom>
        </p:spPr>
      </p:pic>
      <p:sp>
        <p:nvSpPr>
          <p:cNvPr id="17" name="tour head Annual reports"/>
          <p:cNvSpPr txBox="1"/>
          <p:nvPr/>
        </p:nvSpPr>
        <p:spPr>
          <a:xfrm>
            <a:off x="9189720" y="5486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Annual reports</a:t>
            </a:r>
            <a:endParaRPr lang="en-US" sz="1700" dirty="0"/>
          </a:p>
        </p:txBody>
      </p:sp>
      <p:sp>
        <p:nvSpPr>
          <p:cNvPr id="18" name="tour text Annual reports"/>
          <p:cNvSpPr txBox="1"/>
          <p:nvPr/>
        </p:nvSpPr>
        <p:spPr>
          <a:xfrm>
            <a:off x="9189720" y="58338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Exact quote and link to the PDF page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works: one automated run every morning</a:t>
            </a:r>
            <a:endParaRPr lang="en-US" sz="30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Runs daily at 06:17 Qatar time; no manual effort</a:t>
            </a:r>
            <a:endParaRPr lang="en-US" sz="1600" dirty="0"/>
          </a:p>
        </p:txBody>
      </p:sp>
      <p:sp>
        <p:nvSpPr>
          <p:cNvPr id="4" name="step Collect"/>
          <p:cNvSpPr/>
          <p:nvPr/>
        </p:nvSpPr>
        <p:spPr>
          <a:xfrm>
            <a:off x="548640" y="1965960"/>
            <a:ext cx="1645920" cy="3566160"/>
          </a:xfrm>
          <a:prstGeom prst="roundRect">
            <a:avLst>
              <a:gd name="adj" fmla="val 6667"/>
            </a:avLst>
          </a:prstGeom>
          <a:solidFill>
            <a:srgbClr val="E9EDF5"/>
          </a:solidFill>
          <a:ln w="12700">
            <a:solidFill>
              <a:srgbClr val="E9EDF5"/>
            </a:solidFill>
            <a:prstDash val="solid"/>
          </a:ln>
        </p:spPr>
      </p:sp>
      <p:sp>
        <p:nvSpPr>
          <p:cNvPr id="5" name="step number Collect"/>
          <p:cNvSpPr txBox="1"/>
          <p:nvPr/>
        </p:nvSpPr>
        <p:spPr>
          <a:xfrm>
            <a:off x="731520" y="21031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icon circle"/>
          <p:cNvSpPr/>
          <p:nvPr/>
        </p:nvSpPr>
        <p:spPr>
          <a:xfrm>
            <a:off x="1097280" y="2697480"/>
            <a:ext cx="548640" cy="548640"/>
          </a:xfrm>
          <a:prstGeom prst="ellipse">
            <a:avLst/>
          </a:prstGeom>
          <a:solidFill>
            <a:srgbClr val="0B1B3F"/>
          </a:solidFill>
          <a:ln w="12700">
            <a:solidFill>
              <a:srgbClr val="0B1B3F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7981" y="2818181"/>
            <a:ext cx="307238" cy="307238"/>
          </a:xfrm>
          <a:prstGeom prst="rect">
            <a:avLst/>
          </a:prstGeom>
        </p:spPr>
      </p:pic>
      <p:sp>
        <p:nvSpPr>
          <p:cNvPr id="8" name="step head Collect"/>
          <p:cNvSpPr txBox="1"/>
          <p:nvPr/>
        </p:nvSpPr>
        <p:spPr>
          <a:xfrm>
            <a:off x="685800" y="34290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</a:t>
            </a:r>
            <a:endParaRPr lang="en-US" sz="1700" dirty="0"/>
          </a:p>
        </p:txBody>
      </p:sp>
      <p:sp>
        <p:nvSpPr>
          <p:cNvPr id="9" name="step text Collect"/>
          <p:cNvSpPr txBox="1"/>
          <p:nvPr/>
        </p:nvSpPr>
        <p:spPr>
          <a:xfrm>
            <a:off x="685800" y="3886200"/>
            <a:ext cx="1371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News feeds (EN/AR), bank newsrooms, annual reports, consultancy pages</a:t>
            </a:r>
            <a:endParaRPr lang="en-US" sz="1300" dirty="0"/>
          </a:p>
        </p:txBody>
      </p:sp>
      <p:sp>
        <p:nvSpPr>
          <p:cNvPr id="10" name="flow arrow"/>
          <p:cNvSpPr txBox="1"/>
          <p:nvPr/>
        </p:nvSpPr>
        <p:spPr>
          <a:xfrm>
            <a:off x="2194560" y="342900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›</a:t>
            </a:r>
            <a:endParaRPr lang="en-US" sz="2400" dirty="0"/>
          </a:p>
        </p:txBody>
      </p:sp>
      <p:sp>
        <p:nvSpPr>
          <p:cNvPr id="11" name="step Screen"/>
          <p:cNvSpPr/>
          <p:nvPr/>
        </p:nvSpPr>
        <p:spPr>
          <a:xfrm>
            <a:off x="2423160" y="1965960"/>
            <a:ext cx="1645920" cy="3566160"/>
          </a:xfrm>
          <a:prstGeom prst="roundRect">
            <a:avLst>
              <a:gd name="adj" fmla="val 6667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2" name="step number Screen"/>
          <p:cNvSpPr txBox="1"/>
          <p:nvPr/>
        </p:nvSpPr>
        <p:spPr>
          <a:xfrm>
            <a:off x="2606040" y="21031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icon circle"/>
          <p:cNvSpPr/>
          <p:nvPr/>
        </p:nvSpPr>
        <p:spPr>
          <a:xfrm>
            <a:off x="2971800" y="2697480"/>
            <a:ext cx="548640" cy="548640"/>
          </a:xfrm>
          <a:prstGeom prst="ellipse">
            <a:avLst/>
          </a:prstGeom>
          <a:solidFill>
            <a:srgbClr val="0B1B3F"/>
          </a:solidFill>
          <a:ln w="12700">
            <a:solidFill>
              <a:srgbClr val="0B1B3F"/>
            </a:solidFill>
            <a:prstDash val="solid"/>
          </a:ln>
        </p:spPr>
      </p:sp>
      <p:pic>
        <p:nvPicPr>
          <p:cNvPr id="14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2501" y="2818181"/>
            <a:ext cx="307238" cy="307238"/>
          </a:xfrm>
          <a:prstGeom prst="rect">
            <a:avLst/>
          </a:prstGeom>
        </p:spPr>
      </p:pic>
      <p:sp>
        <p:nvSpPr>
          <p:cNvPr id="15" name="step head Screen"/>
          <p:cNvSpPr txBox="1"/>
          <p:nvPr/>
        </p:nvSpPr>
        <p:spPr>
          <a:xfrm>
            <a:off x="2560320" y="34290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</a:t>
            </a:r>
            <a:endParaRPr lang="en-US" sz="1700" dirty="0"/>
          </a:p>
        </p:txBody>
      </p:sp>
      <p:sp>
        <p:nvSpPr>
          <p:cNvPr id="16" name="step text Screen"/>
          <p:cNvSpPr txBox="1"/>
          <p:nvPr/>
        </p:nvSpPr>
        <p:spPr>
          <a:xfrm>
            <a:off x="2560320" y="3886200"/>
            <a:ext cx="1371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Keyword filter, then AI keeps only bank AI items</a:t>
            </a:r>
            <a:endParaRPr lang="en-US" sz="1300" dirty="0"/>
          </a:p>
        </p:txBody>
      </p:sp>
      <p:sp>
        <p:nvSpPr>
          <p:cNvPr id="17" name="flow arrow"/>
          <p:cNvSpPr txBox="1"/>
          <p:nvPr/>
        </p:nvSpPr>
        <p:spPr>
          <a:xfrm>
            <a:off x="4069080" y="342900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›</a:t>
            </a:r>
            <a:endParaRPr lang="en-US" sz="2400" dirty="0"/>
          </a:p>
        </p:txBody>
      </p:sp>
      <p:sp>
        <p:nvSpPr>
          <p:cNvPr id="18" name="step Verify"/>
          <p:cNvSpPr/>
          <p:nvPr/>
        </p:nvSpPr>
        <p:spPr>
          <a:xfrm>
            <a:off x="4297680" y="1965960"/>
            <a:ext cx="1645920" cy="3566160"/>
          </a:xfrm>
          <a:prstGeom prst="roundRect">
            <a:avLst>
              <a:gd name="adj" fmla="val 6667"/>
            </a:avLst>
          </a:prstGeom>
          <a:solidFill>
            <a:srgbClr val="E9EDF5"/>
          </a:solidFill>
          <a:ln w="12700">
            <a:solidFill>
              <a:srgbClr val="E9EDF5"/>
            </a:solidFill>
            <a:prstDash val="solid"/>
          </a:ln>
        </p:spPr>
      </p:sp>
      <p:sp>
        <p:nvSpPr>
          <p:cNvPr id="19" name="step number Verify"/>
          <p:cNvSpPr txBox="1"/>
          <p:nvPr/>
        </p:nvSpPr>
        <p:spPr>
          <a:xfrm>
            <a:off x="4480560" y="21031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20" name="icon circle"/>
          <p:cNvSpPr/>
          <p:nvPr/>
        </p:nvSpPr>
        <p:spPr>
          <a:xfrm>
            <a:off x="4846320" y="2697480"/>
            <a:ext cx="548640" cy="548640"/>
          </a:xfrm>
          <a:prstGeom prst="ellipse">
            <a:avLst/>
          </a:prstGeom>
          <a:solidFill>
            <a:srgbClr val="0B1B3F"/>
          </a:solidFill>
          <a:ln w="12700">
            <a:solidFill>
              <a:srgbClr val="0B1B3F"/>
            </a:solidFill>
            <a:prstDash val="solid"/>
          </a:ln>
        </p:spPr>
      </p:sp>
      <p:pic>
        <p:nvPicPr>
          <p:cNvPr id="2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7021" y="2818181"/>
            <a:ext cx="307238" cy="307238"/>
          </a:xfrm>
          <a:prstGeom prst="rect">
            <a:avLst/>
          </a:prstGeom>
        </p:spPr>
      </p:pic>
      <p:sp>
        <p:nvSpPr>
          <p:cNvPr id="22" name="step head Verify"/>
          <p:cNvSpPr txBox="1"/>
          <p:nvPr/>
        </p:nvSpPr>
        <p:spPr>
          <a:xfrm>
            <a:off x="4434840" y="34290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</a:t>
            </a:r>
            <a:endParaRPr lang="en-US" sz="1700" dirty="0"/>
          </a:p>
        </p:txBody>
      </p:sp>
      <p:sp>
        <p:nvSpPr>
          <p:cNvPr id="23" name="step text Verify"/>
          <p:cNvSpPr txBox="1"/>
          <p:nvPr/>
        </p:nvSpPr>
        <p:spPr>
          <a:xfrm>
            <a:off x="4434840" y="3886200"/>
            <a:ext cx="1371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Facts, numbers and source checked</a:t>
            </a:r>
            <a:endParaRPr lang="en-US" sz="1300" dirty="0"/>
          </a:p>
        </p:txBody>
      </p:sp>
      <p:sp>
        <p:nvSpPr>
          <p:cNvPr id="24" name="flow arrow"/>
          <p:cNvSpPr txBox="1"/>
          <p:nvPr/>
        </p:nvSpPr>
        <p:spPr>
          <a:xfrm>
            <a:off x="5943600" y="342900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›</a:t>
            </a:r>
            <a:endParaRPr lang="en-US" sz="2400" dirty="0"/>
          </a:p>
        </p:txBody>
      </p:sp>
      <p:sp>
        <p:nvSpPr>
          <p:cNvPr id="25" name="step Merge"/>
          <p:cNvSpPr/>
          <p:nvPr/>
        </p:nvSpPr>
        <p:spPr>
          <a:xfrm>
            <a:off x="6172200" y="1965960"/>
            <a:ext cx="1645920" cy="3566160"/>
          </a:xfrm>
          <a:prstGeom prst="roundRect">
            <a:avLst>
              <a:gd name="adj" fmla="val 6667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26" name="step number Merge"/>
          <p:cNvSpPr txBox="1"/>
          <p:nvPr/>
        </p:nvSpPr>
        <p:spPr>
          <a:xfrm>
            <a:off x="6355080" y="21031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7" name="icon circle"/>
          <p:cNvSpPr/>
          <p:nvPr/>
        </p:nvSpPr>
        <p:spPr>
          <a:xfrm>
            <a:off x="6720840" y="2697480"/>
            <a:ext cx="548640" cy="548640"/>
          </a:xfrm>
          <a:prstGeom prst="ellipse">
            <a:avLst/>
          </a:prstGeom>
          <a:solidFill>
            <a:srgbClr val="0B1B3F"/>
          </a:solidFill>
          <a:ln w="12700">
            <a:solidFill>
              <a:srgbClr val="0B1B3F"/>
            </a:solidFill>
            <a:prstDash val="solid"/>
          </a:ln>
        </p:spPr>
      </p:sp>
      <p:pic>
        <p:nvPicPr>
          <p:cNvPr id="28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1541" y="2818181"/>
            <a:ext cx="307238" cy="307238"/>
          </a:xfrm>
          <a:prstGeom prst="rect">
            <a:avLst/>
          </a:prstGeom>
        </p:spPr>
      </p:pic>
      <p:sp>
        <p:nvSpPr>
          <p:cNvPr id="29" name="step head Merge"/>
          <p:cNvSpPr txBox="1"/>
          <p:nvPr/>
        </p:nvSpPr>
        <p:spPr>
          <a:xfrm>
            <a:off x="6309360" y="34290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</a:t>
            </a:r>
            <a:endParaRPr lang="en-US" sz="1700" dirty="0"/>
          </a:p>
        </p:txBody>
      </p:sp>
      <p:sp>
        <p:nvSpPr>
          <p:cNvPr id="30" name="step text Merge"/>
          <p:cNvSpPr txBox="1"/>
          <p:nvPr/>
        </p:nvSpPr>
        <p:spPr>
          <a:xfrm>
            <a:off x="6309360" y="3886200"/>
            <a:ext cx="1371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Same story merged into one card</a:t>
            </a:r>
            <a:endParaRPr lang="en-US" sz="1300" dirty="0"/>
          </a:p>
        </p:txBody>
      </p:sp>
      <p:sp>
        <p:nvSpPr>
          <p:cNvPr id="31" name="flow arrow"/>
          <p:cNvSpPr txBox="1"/>
          <p:nvPr/>
        </p:nvSpPr>
        <p:spPr>
          <a:xfrm>
            <a:off x="7818120" y="342900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›</a:t>
            </a:r>
            <a:endParaRPr lang="en-US" sz="2400" dirty="0"/>
          </a:p>
        </p:txBody>
      </p:sp>
      <p:sp>
        <p:nvSpPr>
          <p:cNvPr id="32" name="step Publish"/>
          <p:cNvSpPr/>
          <p:nvPr/>
        </p:nvSpPr>
        <p:spPr>
          <a:xfrm>
            <a:off x="8046720" y="1965960"/>
            <a:ext cx="1645920" cy="3566160"/>
          </a:xfrm>
          <a:prstGeom prst="roundRect">
            <a:avLst>
              <a:gd name="adj" fmla="val 6667"/>
            </a:avLst>
          </a:prstGeom>
          <a:solidFill>
            <a:srgbClr val="E9EDF5"/>
          </a:solidFill>
          <a:ln w="12700">
            <a:solidFill>
              <a:srgbClr val="E9EDF5"/>
            </a:solidFill>
            <a:prstDash val="solid"/>
          </a:ln>
        </p:spPr>
      </p:sp>
      <p:sp>
        <p:nvSpPr>
          <p:cNvPr id="33" name="step number Publish"/>
          <p:cNvSpPr txBox="1"/>
          <p:nvPr/>
        </p:nvSpPr>
        <p:spPr>
          <a:xfrm>
            <a:off x="8229600" y="21031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34" name="icon circle"/>
          <p:cNvSpPr/>
          <p:nvPr/>
        </p:nvSpPr>
        <p:spPr>
          <a:xfrm>
            <a:off x="8595360" y="2697480"/>
            <a:ext cx="548640" cy="548640"/>
          </a:xfrm>
          <a:prstGeom prst="ellipse">
            <a:avLst/>
          </a:prstGeom>
          <a:solidFill>
            <a:srgbClr val="0B1B3F"/>
          </a:solidFill>
          <a:ln w="12700">
            <a:solidFill>
              <a:srgbClr val="0B1B3F"/>
            </a:solidFill>
            <a:prstDash val="solid"/>
          </a:ln>
        </p:spPr>
      </p:sp>
      <p:pic>
        <p:nvPicPr>
          <p:cNvPr id="35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6061" y="2818181"/>
            <a:ext cx="307238" cy="307238"/>
          </a:xfrm>
          <a:prstGeom prst="rect">
            <a:avLst/>
          </a:prstGeom>
        </p:spPr>
      </p:pic>
      <p:sp>
        <p:nvSpPr>
          <p:cNvPr id="36" name="step head Publish"/>
          <p:cNvSpPr txBox="1"/>
          <p:nvPr/>
        </p:nvSpPr>
        <p:spPr>
          <a:xfrm>
            <a:off x="8183880" y="34290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</a:t>
            </a:r>
            <a:endParaRPr lang="en-US" sz="1700" dirty="0"/>
          </a:p>
        </p:txBody>
      </p:sp>
      <p:sp>
        <p:nvSpPr>
          <p:cNvPr id="37" name="step text Publish"/>
          <p:cNvSpPr txBox="1"/>
          <p:nvPr/>
        </p:nvSpPr>
        <p:spPr>
          <a:xfrm>
            <a:off x="8183880" y="3886200"/>
            <a:ext cx="1371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Dashboard refreshed with charts</a:t>
            </a:r>
            <a:endParaRPr lang="en-US" sz="1300" dirty="0"/>
          </a:p>
        </p:txBody>
      </p:sp>
      <p:sp>
        <p:nvSpPr>
          <p:cNvPr id="38" name="flow arrow"/>
          <p:cNvSpPr txBox="1"/>
          <p:nvPr/>
        </p:nvSpPr>
        <p:spPr>
          <a:xfrm>
            <a:off x="9692640" y="342900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›</a:t>
            </a:r>
            <a:endParaRPr lang="en-US" sz="2400" dirty="0"/>
          </a:p>
        </p:txBody>
      </p:sp>
      <p:sp>
        <p:nvSpPr>
          <p:cNvPr id="39" name="step Alert"/>
          <p:cNvSpPr/>
          <p:nvPr/>
        </p:nvSpPr>
        <p:spPr>
          <a:xfrm>
            <a:off x="9921240" y="1965960"/>
            <a:ext cx="1645920" cy="3566160"/>
          </a:xfrm>
          <a:prstGeom prst="roundRect">
            <a:avLst>
              <a:gd name="adj" fmla="val 6667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40" name="step number Alert"/>
          <p:cNvSpPr txBox="1"/>
          <p:nvPr/>
        </p:nvSpPr>
        <p:spPr>
          <a:xfrm>
            <a:off x="10104120" y="21031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41" name="icon circle"/>
          <p:cNvSpPr/>
          <p:nvPr/>
        </p:nvSpPr>
        <p:spPr>
          <a:xfrm>
            <a:off x="10469880" y="2697480"/>
            <a:ext cx="548640" cy="548640"/>
          </a:xfrm>
          <a:prstGeom prst="ellipse">
            <a:avLst/>
          </a:prstGeom>
          <a:solidFill>
            <a:srgbClr val="0B1B3F"/>
          </a:solidFill>
          <a:ln w="12700">
            <a:solidFill>
              <a:srgbClr val="0B1B3F"/>
            </a:solidFill>
            <a:prstDash val="solid"/>
          </a:ln>
        </p:spPr>
      </p:sp>
      <p:pic>
        <p:nvPicPr>
          <p:cNvPr id="42" name="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90581" y="2818181"/>
            <a:ext cx="307238" cy="307238"/>
          </a:xfrm>
          <a:prstGeom prst="rect">
            <a:avLst/>
          </a:prstGeom>
        </p:spPr>
      </p:pic>
      <p:sp>
        <p:nvSpPr>
          <p:cNvPr id="43" name="step head Alert"/>
          <p:cNvSpPr txBox="1"/>
          <p:nvPr/>
        </p:nvSpPr>
        <p:spPr>
          <a:xfrm>
            <a:off x="10058400" y="34290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</a:t>
            </a:r>
            <a:endParaRPr lang="en-US" sz="1700" dirty="0"/>
          </a:p>
        </p:txBody>
      </p:sp>
      <p:sp>
        <p:nvSpPr>
          <p:cNvPr id="44" name="step text Alert"/>
          <p:cNvSpPr txBox="1"/>
          <p:nvPr/>
        </p:nvSpPr>
        <p:spPr>
          <a:xfrm>
            <a:off x="10058400" y="3886200"/>
            <a:ext cx="1371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New items sent to Telegram</a:t>
            </a:r>
            <a:endParaRPr lang="en-US" sz="1300" dirty="0"/>
          </a:p>
        </p:txBody>
      </p:sp>
      <p:sp>
        <p:nvSpPr>
          <p:cNvPr id="45" name="how note"/>
          <p:cNvSpPr txBox="1"/>
          <p:nvPr/>
        </p:nvSpPr>
        <p:spPr>
          <a:xfrm>
            <a:off x="548640" y="5760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AI is used only where judgement is needed (screening, fact-checking, summaries); everything else is free, rule-based automation.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Architecture: simple, serverless and low-cost</a:t>
            </a:r>
            <a:endParaRPr lang="en-US" sz="3000" dirty="0"/>
          </a:p>
        </p:txBody>
      </p:sp>
      <p:sp>
        <p:nvSpPr>
          <p:cNvPr id="3" name="col SOURCES"/>
          <p:cNvSpPr txBox="1"/>
          <p:nvPr/>
        </p:nvSpPr>
        <p:spPr>
          <a:xfrm>
            <a:off x="548640" y="1234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4"/>
                </a:solidFill>
              </a:rPr>
              <a:t>SOURCES</a:t>
            </a:r>
            <a:endParaRPr lang="en-US" sz="1200" dirty="0"/>
          </a:p>
        </p:txBody>
      </p:sp>
      <p:sp>
        <p:nvSpPr>
          <p:cNvPr id="4" name="col PROCESSING"/>
          <p:cNvSpPr txBox="1"/>
          <p:nvPr/>
        </p:nvSpPr>
        <p:spPr>
          <a:xfrm>
            <a:off x="3886200" y="1234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4"/>
                </a:solidFill>
              </a:rPr>
              <a:t>PROCESSING</a:t>
            </a:r>
            <a:endParaRPr lang="en-US" sz="1200" dirty="0"/>
          </a:p>
        </p:txBody>
      </p:sp>
      <p:sp>
        <p:nvSpPr>
          <p:cNvPr id="5" name="col OUTPUTS"/>
          <p:cNvSpPr txBox="1"/>
          <p:nvPr/>
        </p:nvSpPr>
        <p:spPr>
          <a:xfrm>
            <a:off x="8732520" y="1234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4"/>
                </a:solidFill>
              </a:rPr>
              <a:t>OUTPUTS</a:t>
            </a:r>
            <a:endParaRPr lang="en-US" sz="1200" dirty="0"/>
          </a:p>
        </p:txBody>
      </p:sp>
      <p:sp>
        <p:nvSpPr>
          <p:cNvPr id="6" name="source Google News (EN + AR)"/>
          <p:cNvSpPr/>
          <p:nvPr/>
        </p:nvSpPr>
        <p:spPr>
          <a:xfrm>
            <a:off x="548640" y="1645920"/>
            <a:ext cx="2834640" cy="676656"/>
          </a:xfrm>
          <a:prstGeom prst="roundRect">
            <a:avLst>
              <a:gd name="adj" fmla="val 16216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7" name="icon circle"/>
          <p:cNvSpPr/>
          <p:nvPr/>
        </p:nvSpPr>
        <p:spPr>
          <a:xfrm>
            <a:off x="658368" y="1737360"/>
            <a:ext cx="493776" cy="493776"/>
          </a:xfrm>
          <a:prstGeom prst="ellipse">
            <a:avLst/>
          </a:prstGeom>
          <a:solidFill>
            <a:srgbClr val="0B1B3F"/>
          </a:solidFill>
          <a:ln w="12700">
            <a:solidFill>
              <a:srgbClr val="0B1B3F"/>
            </a:solidFill>
            <a:prstDash val="solid"/>
          </a:ln>
        </p:spPr>
      </p:sp>
      <p:pic>
        <p:nvPicPr>
          <p:cNvPr id="8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6999" y="1845991"/>
            <a:ext cx="276515" cy="276515"/>
          </a:xfrm>
          <a:prstGeom prst="rect">
            <a:avLst/>
          </a:prstGeom>
        </p:spPr>
      </p:pic>
      <p:sp>
        <p:nvSpPr>
          <p:cNvPr id="9" name="source text Google News (EN + AR)"/>
          <p:cNvSpPr txBox="1"/>
          <p:nvPr/>
        </p:nvSpPr>
        <p:spPr>
          <a:xfrm>
            <a:off x="1280160" y="1645920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Google News (EN + AR)</a:t>
            </a:r>
            <a:endParaRPr lang="en-US" sz="1400" dirty="0"/>
          </a:p>
        </p:txBody>
      </p:sp>
      <p:sp>
        <p:nvSpPr>
          <p:cNvPr id="10" name="arrow source"/>
          <p:cNvSpPr/>
          <p:nvPr/>
        </p:nvSpPr>
        <p:spPr>
          <a:xfrm>
            <a:off x="3383280" y="1984248"/>
            <a:ext cx="502920" cy="0"/>
          </a:xfrm>
          <a:prstGeom prst="line">
            <a:avLst/>
          </a:prstGeom>
          <a:noFill/>
          <a:ln w="19050">
            <a:solidFill>
              <a:srgbClr val="5A6680"/>
            </a:solidFill>
            <a:prstDash val="solid"/>
            <a:tailEnd type="triangle"/>
          </a:ln>
        </p:spPr>
      </p:sp>
      <p:sp>
        <p:nvSpPr>
          <p:cNvPr id="11" name="source Bank newsrooms"/>
          <p:cNvSpPr/>
          <p:nvPr/>
        </p:nvSpPr>
        <p:spPr>
          <a:xfrm>
            <a:off x="548640" y="2432304"/>
            <a:ext cx="2834640" cy="676656"/>
          </a:xfrm>
          <a:prstGeom prst="roundRect">
            <a:avLst>
              <a:gd name="adj" fmla="val 16216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2" name="icon circle"/>
          <p:cNvSpPr/>
          <p:nvPr/>
        </p:nvSpPr>
        <p:spPr>
          <a:xfrm>
            <a:off x="658368" y="2523744"/>
            <a:ext cx="493776" cy="493776"/>
          </a:xfrm>
          <a:prstGeom prst="ellipse">
            <a:avLst/>
          </a:prstGeom>
          <a:solidFill>
            <a:srgbClr val="0B1B3F"/>
          </a:solidFill>
          <a:ln w="12700">
            <a:solidFill>
              <a:srgbClr val="0B1B3F"/>
            </a:solidFill>
            <a:prstDash val="solid"/>
          </a:ln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9" y="2632375"/>
            <a:ext cx="276515" cy="276515"/>
          </a:xfrm>
          <a:prstGeom prst="rect">
            <a:avLst/>
          </a:prstGeom>
        </p:spPr>
      </p:pic>
      <p:sp>
        <p:nvSpPr>
          <p:cNvPr id="14" name="source text Bank newsrooms"/>
          <p:cNvSpPr txBox="1"/>
          <p:nvPr/>
        </p:nvSpPr>
        <p:spPr>
          <a:xfrm>
            <a:off x="1280160" y="2432304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Bank newsrooms</a:t>
            </a:r>
            <a:endParaRPr lang="en-US" sz="1400" dirty="0"/>
          </a:p>
        </p:txBody>
      </p:sp>
      <p:sp>
        <p:nvSpPr>
          <p:cNvPr id="15" name="arrow source"/>
          <p:cNvSpPr/>
          <p:nvPr/>
        </p:nvSpPr>
        <p:spPr>
          <a:xfrm>
            <a:off x="3383280" y="2770632"/>
            <a:ext cx="502920" cy="0"/>
          </a:xfrm>
          <a:prstGeom prst="line">
            <a:avLst/>
          </a:prstGeom>
          <a:noFill/>
          <a:ln w="19050">
            <a:solidFill>
              <a:srgbClr val="5A6680"/>
            </a:solidFill>
            <a:prstDash val="solid"/>
            <a:tailEnd type="triangle"/>
          </a:ln>
        </p:spPr>
      </p:sp>
      <p:sp>
        <p:nvSpPr>
          <p:cNvPr id="16" name="source Bank annual reports (PDF)"/>
          <p:cNvSpPr/>
          <p:nvPr/>
        </p:nvSpPr>
        <p:spPr>
          <a:xfrm>
            <a:off x="548640" y="3218688"/>
            <a:ext cx="2834640" cy="676656"/>
          </a:xfrm>
          <a:prstGeom prst="roundRect">
            <a:avLst>
              <a:gd name="adj" fmla="val 16216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7" name="icon circle"/>
          <p:cNvSpPr/>
          <p:nvPr/>
        </p:nvSpPr>
        <p:spPr>
          <a:xfrm>
            <a:off x="658368" y="3310128"/>
            <a:ext cx="493776" cy="493776"/>
          </a:xfrm>
          <a:prstGeom prst="ellipse">
            <a:avLst/>
          </a:prstGeom>
          <a:solidFill>
            <a:srgbClr val="0B1B3F"/>
          </a:solidFill>
          <a:ln w="12700">
            <a:solidFill>
              <a:srgbClr val="0B1B3F"/>
            </a:solidFill>
            <a:prstDash val="solid"/>
          </a:ln>
        </p:spPr>
      </p:sp>
      <p:pic>
        <p:nvPicPr>
          <p:cNvPr id="18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999" y="3418759"/>
            <a:ext cx="276515" cy="276515"/>
          </a:xfrm>
          <a:prstGeom prst="rect">
            <a:avLst/>
          </a:prstGeom>
        </p:spPr>
      </p:pic>
      <p:sp>
        <p:nvSpPr>
          <p:cNvPr id="19" name="source text Bank annual reports (PDF)"/>
          <p:cNvSpPr txBox="1"/>
          <p:nvPr/>
        </p:nvSpPr>
        <p:spPr>
          <a:xfrm>
            <a:off x="1280160" y="3218688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Bank annual reports (PDF)</a:t>
            </a:r>
            <a:endParaRPr lang="en-US" sz="1400" dirty="0"/>
          </a:p>
        </p:txBody>
      </p:sp>
      <p:sp>
        <p:nvSpPr>
          <p:cNvPr id="20" name="arrow source"/>
          <p:cNvSpPr/>
          <p:nvPr/>
        </p:nvSpPr>
        <p:spPr>
          <a:xfrm>
            <a:off x="3383280" y="3557016"/>
            <a:ext cx="502920" cy="0"/>
          </a:xfrm>
          <a:prstGeom prst="line">
            <a:avLst/>
          </a:prstGeom>
          <a:noFill/>
          <a:ln w="19050">
            <a:solidFill>
              <a:srgbClr val="5A6680"/>
            </a:solidFill>
            <a:prstDash val="solid"/>
            <a:tailEnd type="triangle"/>
          </a:ln>
        </p:spPr>
      </p:sp>
      <p:sp>
        <p:nvSpPr>
          <p:cNvPr id="21" name="source Consultancy &amp; regulator pages"/>
          <p:cNvSpPr/>
          <p:nvPr/>
        </p:nvSpPr>
        <p:spPr>
          <a:xfrm>
            <a:off x="548640" y="4005072"/>
            <a:ext cx="2834640" cy="676656"/>
          </a:xfrm>
          <a:prstGeom prst="roundRect">
            <a:avLst>
              <a:gd name="adj" fmla="val 16216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22" name="icon circle"/>
          <p:cNvSpPr/>
          <p:nvPr/>
        </p:nvSpPr>
        <p:spPr>
          <a:xfrm>
            <a:off x="658368" y="4096512"/>
            <a:ext cx="493776" cy="493776"/>
          </a:xfrm>
          <a:prstGeom prst="ellipse">
            <a:avLst/>
          </a:prstGeom>
          <a:solidFill>
            <a:srgbClr val="0B1B3F"/>
          </a:solidFill>
          <a:ln w="12700">
            <a:solidFill>
              <a:srgbClr val="0B1B3F"/>
            </a:solidFill>
            <a:prstDash val="solid"/>
          </a:ln>
        </p:spPr>
      </p:sp>
      <p:pic>
        <p:nvPicPr>
          <p:cNvPr id="23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999" y="4205143"/>
            <a:ext cx="276515" cy="276515"/>
          </a:xfrm>
          <a:prstGeom prst="rect">
            <a:avLst/>
          </a:prstGeom>
        </p:spPr>
      </p:pic>
      <p:sp>
        <p:nvSpPr>
          <p:cNvPr id="24" name="source text Consultancy &amp;amp; regulator pages"/>
          <p:cNvSpPr txBox="1"/>
          <p:nvPr/>
        </p:nvSpPr>
        <p:spPr>
          <a:xfrm>
            <a:off x="1280160" y="4005072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Consultancy &amp; regulator pages</a:t>
            </a:r>
            <a:endParaRPr lang="en-US" sz="1400" dirty="0"/>
          </a:p>
        </p:txBody>
      </p:sp>
      <p:sp>
        <p:nvSpPr>
          <p:cNvPr id="25" name="arrow source"/>
          <p:cNvSpPr/>
          <p:nvPr/>
        </p:nvSpPr>
        <p:spPr>
          <a:xfrm>
            <a:off x="3383280" y="4343400"/>
            <a:ext cx="502920" cy="0"/>
          </a:xfrm>
          <a:prstGeom prst="line">
            <a:avLst/>
          </a:prstGeom>
          <a:noFill/>
          <a:ln w="19050">
            <a:solidFill>
              <a:srgbClr val="5A6680"/>
            </a:solidFill>
            <a:prstDash val="solid"/>
            <a:tailEnd type="triangle"/>
          </a:ln>
        </p:spPr>
      </p:sp>
      <p:sp>
        <p:nvSpPr>
          <p:cNvPr id="26" name="agent box"/>
          <p:cNvSpPr/>
          <p:nvPr/>
        </p:nvSpPr>
        <p:spPr>
          <a:xfrm>
            <a:off x="3886200" y="1645920"/>
            <a:ext cx="4343400" cy="3063240"/>
          </a:xfrm>
          <a:prstGeom prst="roundRect">
            <a:avLst>
              <a:gd name="adj" fmla="val 3582"/>
            </a:avLst>
          </a:prstGeom>
          <a:solidFill>
            <a:srgbClr val="0B1B3F"/>
          </a:solidFill>
          <a:ln w="12700">
            <a:solidFill>
              <a:srgbClr val="0B1B3F"/>
            </a:solidFill>
            <a:prstDash val="solid"/>
          </a:ln>
        </p:spPr>
      </p:sp>
      <p:sp>
        <p:nvSpPr>
          <p:cNvPr id="27" name="icon circle"/>
          <p:cNvSpPr/>
          <p:nvPr/>
        </p:nvSpPr>
        <p:spPr>
          <a:xfrm>
            <a:off x="4114800" y="1828800"/>
            <a:ext cx="566928" cy="566928"/>
          </a:xfrm>
          <a:prstGeom prst="ellipse">
            <a:avLst/>
          </a:prstGeom>
          <a:solidFill>
            <a:srgbClr val="E9B949"/>
          </a:solidFill>
          <a:ln w="12700">
            <a:solidFill>
              <a:srgbClr val="E9B949"/>
            </a:solidFill>
            <a:prstDash val="solid"/>
          </a:ln>
        </p:spPr>
      </p:sp>
      <p:pic>
        <p:nvPicPr>
          <p:cNvPr id="28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9524" y="1953524"/>
            <a:ext cx="317480" cy="317480"/>
          </a:xfrm>
          <a:prstGeom prst="rect">
            <a:avLst/>
          </a:prstGeom>
        </p:spPr>
      </p:pic>
      <p:sp>
        <p:nvSpPr>
          <p:cNvPr id="29" name="agent title"/>
          <p:cNvSpPr txBox="1"/>
          <p:nvPr/>
        </p:nvSpPr>
        <p:spPr>
          <a:xfrm>
            <a:off x="4800600" y="17830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AI agent (Python)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C9D1E3"/>
                </a:solidFill>
              </a:rPr>
              <a:t>GitHub Actions · daily 06:17 Qatar</a:t>
            </a:r>
            <a:endParaRPr lang="en-US" sz="1800" dirty="0"/>
          </a:p>
        </p:txBody>
      </p:sp>
      <p:sp>
        <p:nvSpPr>
          <p:cNvPr id="30" name="module Discover"/>
          <p:cNvSpPr/>
          <p:nvPr/>
        </p:nvSpPr>
        <p:spPr>
          <a:xfrm>
            <a:off x="4114800" y="2651760"/>
            <a:ext cx="1874520" cy="384048"/>
          </a:xfrm>
          <a:prstGeom prst="roundRect">
            <a:avLst>
              <a:gd name="adj" fmla="val 19048"/>
            </a:avLst>
          </a:prstGeom>
          <a:solidFill>
            <a:srgbClr val="1C2C55"/>
          </a:solidFill>
          <a:ln w="12700">
            <a:solidFill>
              <a:srgbClr val="2C3E6B"/>
            </a:solidFill>
            <a:prstDash val="solid"/>
          </a:ln>
        </p:spPr>
      </p:sp>
      <p:sp>
        <p:nvSpPr>
          <p:cNvPr id="31" name="module text Discover"/>
          <p:cNvSpPr txBox="1"/>
          <p:nvPr/>
        </p:nvSpPr>
        <p:spPr>
          <a:xfrm>
            <a:off x="4114800" y="265176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Discover</a:t>
            </a:r>
            <a:endParaRPr lang="en-US" sz="1200" dirty="0"/>
          </a:p>
        </p:txBody>
      </p:sp>
      <p:sp>
        <p:nvSpPr>
          <p:cNvPr id="32" name="module Screen"/>
          <p:cNvSpPr/>
          <p:nvPr/>
        </p:nvSpPr>
        <p:spPr>
          <a:xfrm>
            <a:off x="6126480" y="2651760"/>
            <a:ext cx="1874520" cy="384048"/>
          </a:xfrm>
          <a:prstGeom prst="roundRect">
            <a:avLst>
              <a:gd name="adj" fmla="val 19048"/>
            </a:avLst>
          </a:prstGeom>
          <a:solidFill>
            <a:srgbClr val="1C2C55"/>
          </a:solidFill>
          <a:ln w="12700">
            <a:solidFill>
              <a:srgbClr val="2C3E6B"/>
            </a:solidFill>
            <a:prstDash val="solid"/>
          </a:ln>
        </p:spPr>
      </p:sp>
      <p:sp>
        <p:nvSpPr>
          <p:cNvPr id="33" name="module text Screen"/>
          <p:cNvSpPr txBox="1"/>
          <p:nvPr/>
        </p:nvSpPr>
        <p:spPr>
          <a:xfrm>
            <a:off x="6126480" y="265176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Screen</a:t>
            </a:r>
            <a:endParaRPr lang="en-US" sz="1200" dirty="0"/>
          </a:p>
        </p:txBody>
      </p:sp>
      <p:sp>
        <p:nvSpPr>
          <p:cNvPr id="34" name="module Verify"/>
          <p:cNvSpPr/>
          <p:nvPr/>
        </p:nvSpPr>
        <p:spPr>
          <a:xfrm>
            <a:off x="4114800" y="3154680"/>
            <a:ext cx="1874520" cy="384048"/>
          </a:xfrm>
          <a:prstGeom prst="roundRect">
            <a:avLst>
              <a:gd name="adj" fmla="val 19048"/>
            </a:avLst>
          </a:prstGeom>
          <a:solidFill>
            <a:srgbClr val="1C2C55"/>
          </a:solidFill>
          <a:ln w="12700">
            <a:solidFill>
              <a:srgbClr val="2C3E6B"/>
            </a:solidFill>
            <a:prstDash val="solid"/>
          </a:ln>
        </p:spPr>
      </p:sp>
      <p:sp>
        <p:nvSpPr>
          <p:cNvPr id="35" name="module text Verify"/>
          <p:cNvSpPr txBox="1"/>
          <p:nvPr/>
        </p:nvSpPr>
        <p:spPr>
          <a:xfrm>
            <a:off x="4114800" y="315468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Verify</a:t>
            </a:r>
            <a:endParaRPr lang="en-US" sz="1200" dirty="0"/>
          </a:p>
        </p:txBody>
      </p:sp>
      <p:sp>
        <p:nvSpPr>
          <p:cNvPr id="36" name="module De-duplicate"/>
          <p:cNvSpPr/>
          <p:nvPr/>
        </p:nvSpPr>
        <p:spPr>
          <a:xfrm>
            <a:off x="6126480" y="3154680"/>
            <a:ext cx="1874520" cy="384048"/>
          </a:xfrm>
          <a:prstGeom prst="roundRect">
            <a:avLst>
              <a:gd name="adj" fmla="val 19048"/>
            </a:avLst>
          </a:prstGeom>
          <a:solidFill>
            <a:srgbClr val="1C2C55"/>
          </a:solidFill>
          <a:ln w="12700">
            <a:solidFill>
              <a:srgbClr val="2C3E6B"/>
            </a:solidFill>
            <a:prstDash val="solid"/>
          </a:ln>
        </p:spPr>
      </p:sp>
      <p:sp>
        <p:nvSpPr>
          <p:cNvPr id="37" name="module text De-duplicate"/>
          <p:cNvSpPr txBox="1"/>
          <p:nvPr/>
        </p:nvSpPr>
        <p:spPr>
          <a:xfrm>
            <a:off x="6126480" y="315468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De-duplicate</a:t>
            </a:r>
            <a:endParaRPr lang="en-US" sz="1200" dirty="0"/>
          </a:p>
        </p:txBody>
      </p:sp>
      <p:sp>
        <p:nvSpPr>
          <p:cNvPr id="38" name="module Annual reports"/>
          <p:cNvSpPr/>
          <p:nvPr/>
        </p:nvSpPr>
        <p:spPr>
          <a:xfrm>
            <a:off x="4114800" y="3657600"/>
            <a:ext cx="1874520" cy="384048"/>
          </a:xfrm>
          <a:prstGeom prst="roundRect">
            <a:avLst>
              <a:gd name="adj" fmla="val 19048"/>
            </a:avLst>
          </a:prstGeom>
          <a:solidFill>
            <a:srgbClr val="1C2C55"/>
          </a:solidFill>
          <a:ln w="12700">
            <a:solidFill>
              <a:srgbClr val="2C3E6B"/>
            </a:solidFill>
            <a:prstDash val="solid"/>
          </a:ln>
        </p:spPr>
      </p:sp>
      <p:sp>
        <p:nvSpPr>
          <p:cNvPr id="39" name="module text Annual reports"/>
          <p:cNvSpPr txBox="1"/>
          <p:nvPr/>
        </p:nvSpPr>
        <p:spPr>
          <a:xfrm>
            <a:off x="4114800" y="36576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Annual reports</a:t>
            </a:r>
            <a:endParaRPr lang="en-US" sz="1200" dirty="0"/>
          </a:p>
        </p:txBody>
      </p:sp>
      <p:sp>
        <p:nvSpPr>
          <p:cNvPr id="40" name="module Sector insights"/>
          <p:cNvSpPr/>
          <p:nvPr/>
        </p:nvSpPr>
        <p:spPr>
          <a:xfrm>
            <a:off x="6126480" y="3657600"/>
            <a:ext cx="1874520" cy="384048"/>
          </a:xfrm>
          <a:prstGeom prst="roundRect">
            <a:avLst>
              <a:gd name="adj" fmla="val 19048"/>
            </a:avLst>
          </a:prstGeom>
          <a:solidFill>
            <a:srgbClr val="1C2C55"/>
          </a:solidFill>
          <a:ln w="12700">
            <a:solidFill>
              <a:srgbClr val="2C3E6B"/>
            </a:solidFill>
            <a:prstDash val="solid"/>
          </a:ln>
        </p:spPr>
      </p:sp>
      <p:sp>
        <p:nvSpPr>
          <p:cNvPr id="41" name="module text Sector insights"/>
          <p:cNvSpPr txBox="1"/>
          <p:nvPr/>
        </p:nvSpPr>
        <p:spPr>
          <a:xfrm>
            <a:off x="6126480" y="36576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Sector insights</a:t>
            </a:r>
            <a:endParaRPr lang="en-US" sz="1200" dirty="0"/>
          </a:p>
        </p:txBody>
      </p:sp>
      <p:sp>
        <p:nvSpPr>
          <p:cNvPr id="42" name="module Logos"/>
          <p:cNvSpPr/>
          <p:nvPr/>
        </p:nvSpPr>
        <p:spPr>
          <a:xfrm>
            <a:off x="4114800" y="4160520"/>
            <a:ext cx="1874520" cy="384048"/>
          </a:xfrm>
          <a:prstGeom prst="roundRect">
            <a:avLst>
              <a:gd name="adj" fmla="val 19048"/>
            </a:avLst>
          </a:prstGeom>
          <a:solidFill>
            <a:srgbClr val="1C2C55"/>
          </a:solidFill>
          <a:ln w="12700">
            <a:solidFill>
              <a:srgbClr val="2C3E6B"/>
            </a:solidFill>
            <a:prstDash val="solid"/>
          </a:ln>
        </p:spPr>
      </p:sp>
      <p:sp>
        <p:nvSpPr>
          <p:cNvPr id="43" name="module text Logos"/>
          <p:cNvSpPr txBox="1"/>
          <p:nvPr/>
        </p:nvSpPr>
        <p:spPr>
          <a:xfrm>
            <a:off x="4114800" y="416052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Logos</a:t>
            </a:r>
            <a:endParaRPr lang="en-US" sz="1200" dirty="0"/>
          </a:p>
        </p:txBody>
      </p:sp>
      <p:sp>
        <p:nvSpPr>
          <p:cNvPr id="44" name="module Alerts"/>
          <p:cNvSpPr/>
          <p:nvPr/>
        </p:nvSpPr>
        <p:spPr>
          <a:xfrm>
            <a:off x="6126480" y="4160520"/>
            <a:ext cx="1874520" cy="384048"/>
          </a:xfrm>
          <a:prstGeom prst="roundRect">
            <a:avLst>
              <a:gd name="adj" fmla="val 19048"/>
            </a:avLst>
          </a:prstGeom>
          <a:solidFill>
            <a:srgbClr val="1C2C55"/>
          </a:solidFill>
          <a:ln w="12700">
            <a:solidFill>
              <a:srgbClr val="2C3E6B"/>
            </a:solidFill>
            <a:prstDash val="solid"/>
          </a:ln>
        </p:spPr>
      </p:sp>
      <p:sp>
        <p:nvSpPr>
          <p:cNvPr id="45" name="module text Alerts"/>
          <p:cNvSpPr txBox="1"/>
          <p:nvPr/>
        </p:nvSpPr>
        <p:spPr>
          <a:xfrm>
            <a:off x="6126480" y="416052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Alerts</a:t>
            </a:r>
            <a:endParaRPr lang="en-US" sz="1200" dirty="0"/>
          </a:p>
        </p:txBody>
      </p:sp>
      <p:sp>
        <p:nvSpPr>
          <p:cNvPr id="46" name="claude box"/>
          <p:cNvSpPr/>
          <p:nvPr/>
        </p:nvSpPr>
        <p:spPr>
          <a:xfrm>
            <a:off x="3886200" y="5074920"/>
            <a:ext cx="4343400" cy="914400"/>
          </a:xfrm>
          <a:prstGeom prst="roundRect">
            <a:avLst>
              <a:gd name="adj" fmla="val 12000"/>
            </a:avLst>
          </a:prstGeom>
          <a:solidFill>
            <a:srgbClr val="FDF6E3"/>
          </a:solidFill>
          <a:ln w="12700">
            <a:solidFill>
              <a:srgbClr val="FDF6E3"/>
            </a:solidFill>
            <a:prstDash val="solid"/>
          </a:ln>
        </p:spPr>
      </p:sp>
      <p:sp>
        <p:nvSpPr>
          <p:cNvPr id="47" name="icon circle"/>
          <p:cNvSpPr/>
          <p:nvPr/>
        </p:nvSpPr>
        <p:spPr>
          <a:xfrm>
            <a:off x="4069080" y="5248656"/>
            <a:ext cx="566928" cy="566928"/>
          </a:xfrm>
          <a:prstGeom prst="ellipse">
            <a:avLst/>
          </a:prstGeom>
          <a:solidFill>
            <a:srgbClr val="0B1B3F"/>
          </a:solidFill>
          <a:ln w="12700">
            <a:solidFill>
              <a:srgbClr val="0B1B3F"/>
            </a:solidFill>
            <a:prstDash val="solid"/>
          </a:ln>
        </p:spPr>
      </p:sp>
      <p:pic>
        <p:nvPicPr>
          <p:cNvPr id="48" name="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3804" y="5373380"/>
            <a:ext cx="317480" cy="317480"/>
          </a:xfrm>
          <a:prstGeom prst="rect">
            <a:avLst/>
          </a:prstGeom>
        </p:spPr>
      </p:pic>
      <p:sp>
        <p:nvSpPr>
          <p:cNvPr id="49" name="claude text"/>
          <p:cNvSpPr txBox="1"/>
          <p:nvPr/>
        </p:nvSpPr>
        <p:spPr>
          <a:xfrm>
            <a:off x="4800600" y="512064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Claude Haiku 4.5 (Anthropic API)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A6680"/>
                </a:solidFill>
              </a:rPr>
              <a:t>Screening, fact-checks, summaries</a:t>
            </a:r>
            <a:endParaRPr lang="en-US" sz="1500" dirty="0"/>
          </a:p>
        </p:txBody>
      </p:sp>
      <p:sp>
        <p:nvSpPr>
          <p:cNvPr id="50" name="arrow claude"/>
          <p:cNvSpPr/>
          <p:nvPr/>
        </p:nvSpPr>
        <p:spPr>
          <a:xfrm>
            <a:off x="6053328" y="4709160"/>
            <a:ext cx="0" cy="365760"/>
          </a:xfrm>
          <a:prstGeom prst="line">
            <a:avLst/>
          </a:prstGeom>
          <a:noFill/>
          <a:ln w="19050">
            <a:solidFill>
              <a:srgbClr val="5A6680"/>
            </a:solidFill>
            <a:prstDash val="solid"/>
            <a:headEnd type="triangle"/>
            <a:tailEnd type="triangle"/>
          </a:ln>
        </p:spPr>
      </p:sp>
      <p:sp>
        <p:nvSpPr>
          <p:cNvPr id="51" name="output Data store"/>
          <p:cNvSpPr/>
          <p:nvPr/>
        </p:nvSpPr>
        <p:spPr>
          <a:xfrm>
            <a:off x="8732520" y="1645920"/>
            <a:ext cx="2880360" cy="960120"/>
          </a:xfrm>
          <a:prstGeom prst="roundRect">
            <a:avLst>
              <a:gd name="adj" fmla="val 11429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52" name="icon circle"/>
          <p:cNvSpPr/>
          <p:nvPr/>
        </p:nvSpPr>
        <p:spPr>
          <a:xfrm>
            <a:off x="8915400" y="1837944"/>
            <a:ext cx="566928" cy="566928"/>
          </a:xfrm>
          <a:prstGeom prst="ellipse">
            <a:avLst/>
          </a:prstGeom>
          <a:solidFill>
            <a:srgbClr val="0B1B3F"/>
          </a:solidFill>
          <a:ln w="12700">
            <a:solidFill>
              <a:srgbClr val="0B1B3F"/>
            </a:solidFill>
            <a:prstDash val="solid"/>
          </a:ln>
        </p:spPr>
      </p:sp>
      <p:pic>
        <p:nvPicPr>
          <p:cNvPr id="53" name="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0124" y="1962668"/>
            <a:ext cx="317480" cy="317480"/>
          </a:xfrm>
          <a:prstGeom prst="rect">
            <a:avLst/>
          </a:prstGeom>
        </p:spPr>
      </p:pic>
      <p:sp>
        <p:nvSpPr>
          <p:cNvPr id="54" name="output text Data store"/>
          <p:cNvSpPr txBox="1"/>
          <p:nvPr/>
        </p:nvSpPr>
        <p:spPr>
          <a:xfrm>
            <a:off x="9646920" y="1645920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B3F"/>
                </a:solidFill>
              </a:rPr>
              <a:t>Data store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A6680"/>
                </a:solidFill>
              </a:rPr>
              <a:t>JSON files in GitHub</a:t>
            </a:r>
            <a:endParaRPr lang="en-US" sz="1600" dirty="0"/>
          </a:p>
        </p:txBody>
      </p:sp>
      <p:sp>
        <p:nvSpPr>
          <p:cNvPr id="55" name="arrow output Data store"/>
          <p:cNvSpPr/>
          <p:nvPr/>
        </p:nvSpPr>
        <p:spPr>
          <a:xfrm>
            <a:off x="8229600" y="2125980"/>
            <a:ext cx="502920" cy="0"/>
          </a:xfrm>
          <a:prstGeom prst="line">
            <a:avLst/>
          </a:prstGeom>
          <a:noFill/>
          <a:ln w="19050">
            <a:solidFill>
              <a:srgbClr val="5A6680"/>
            </a:solidFill>
            <a:prstDash val="solid"/>
            <a:tailEnd type="triangle"/>
          </a:ln>
        </p:spPr>
      </p:sp>
      <p:sp>
        <p:nvSpPr>
          <p:cNvPr id="56" name="output Dashboard"/>
          <p:cNvSpPr/>
          <p:nvPr/>
        </p:nvSpPr>
        <p:spPr>
          <a:xfrm>
            <a:off x="8732520" y="2743200"/>
            <a:ext cx="2880360" cy="960120"/>
          </a:xfrm>
          <a:prstGeom prst="roundRect">
            <a:avLst>
              <a:gd name="adj" fmla="val 11429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57" name="icon circle"/>
          <p:cNvSpPr/>
          <p:nvPr/>
        </p:nvSpPr>
        <p:spPr>
          <a:xfrm>
            <a:off x="8915400" y="2935224"/>
            <a:ext cx="566928" cy="566928"/>
          </a:xfrm>
          <a:prstGeom prst="ellipse">
            <a:avLst/>
          </a:prstGeom>
          <a:solidFill>
            <a:srgbClr val="0B1B3F"/>
          </a:solidFill>
          <a:ln w="12700">
            <a:solidFill>
              <a:srgbClr val="0B1B3F"/>
            </a:solidFill>
            <a:prstDash val="solid"/>
          </a:ln>
        </p:spPr>
      </p:sp>
      <p:pic>
        <p:nvPicPr>
          <p:cNvPr id="58" name="icon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40124" y="3059948"/>
            <a:ext cx="317480" cy="317480"/>
          </a:xfrm>
          <a:prstGeom prst="rect">
            <a:avLst/>
          </a:prstGeom>
        </p:spPr>
      </p:pic>
      <p:sp>
        <p:nvSpPr>
          <p:cNvPr id="59" name="output text Dashboard"/>
          <p:cNvSpPr txBox="1"/>
          <p:nvPr/>
        </p:nvSpPr>
        <p:spPr>
          <a:xfrm>
            <a:off x="9646920" y="2743200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B3F"/>
                </a:solidFill>
              </a:rPr>
              <a:t>Dashboard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A6680"/>
                </a:solidFill>
              </a:rPr>
              <a:t>GitHub Pages, mobile</a:t>
            </a:r>
            <a:endParaRPr lang="en-US" sz="1600" dirty="0"/>
          </a:p>
        </p:txBody>
      </p:sp>
      <p:sp>
        <p:nvSpPr>
          <p:cNvPr id="60" name="arrow output Dashboard"/>
          <p:cNvSpPr/>
          <p:nvPr/>
        </p:nvSpPr>
        <p:spPr>
          <a:xfrm>
            <a:off x="8229600" y="3223260"/>
            <a:ext cx="502920" cy="0"/>
          </a:xfrm>
          <a:prstGeom prst="line">
            <a:avLst/>
          </a:prstGeom>
          <a:noFill/>
          <a:ln w="19050">
            <a:solidFill>
              <a:srgbClr val="5A6680"/>
            </a:solidFill>
            <a:prstDash val="solid"/>
            <a:tailEnd type="triangle"/>
          </a:ln>
        </p:spPr>
      </p:sp>
      <p:sp>
        <p:nvSpPr>
          <p:cNvPr id="61" name="output Telegram bot"/>
          <p:cNvSpPr/>
          <p:nvPr/>
        </p:nvSpPr>
        <p:spPr>
          <a:xfrm>
            <a:off x="8732520" y="3840480"/>
            <a:ext cx="2880360" cy="960120"/>
          </a:xfrm>
          <a:prstGeom prst="roundRect">
            <a:avLst>
              <a:gd name="adj" fmla="val 11429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62" name="icon circle"/>
          <p:cNvSpPr/>
          <p:nvPr/>
        </p:nvSpPr>
        <p:spPr>
          <a:xfrm>
            <a:off x="8915400" y="4032504"/>
            <a:ext cx="566928" cy="566928"/>
          </a:xfrm>
          <a:prstGeom prst="ellipse">
            <a:avLst/>
          </a:prstGeom>
          <a:solidFill>
            <a:srgbClr val="0B1B3F"/>
          </a:solidFill>
          <a:ln w="12700">
            <a:solidFill>
              <a:srgbClr val="0B1B3F"/>
            </a:solidFill>
            <a:prstDash val="solid"/>
          </a:ln>
        </p:spPr>
      </p:sp>
      <p:pic>
        <p:nvPicPr>
          <p:cNvPr id="63" name="icon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40124" y="4157228"/>
            <a:ext cx="317480" cy="317480"/>
          </a:xfrm>
          <a:prstGeom prst="rect">
            <a:avLst/>
          </a:prstGeom>
        </p:spPr>
      </p:pic>
      <p:sp>
        <p:nvSpPr>
          <p:cNvPr id="64" name="output text Telegram bot"/>
          <p:cNvSpPr txBox="1"/>
          <p:nvPr/>
        </p:nvSpPr>
        <p:spPr>
          <a:xfrm>
            <a:off x="9646920" y="3840480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B3F"/>
                </a:solidFill>
              </a:rPr>
              <a:t>Telegram bot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A6680"/>
                </a:solidFill>
              </a:rPr>
              <a:t>Daily alerts</a:t>
            </a:r>
            <a:endParaRPr lang="en-US" sz="1600" dirty="0"/>
          </a:p>
        </p:txBody>
      </p:sp>
      <p:sp>
        <p:nvSpPr>
          <p:cNvPr id="65" name="arrow output Telegram bot"/>
          <p:cNvSpPr/>
          <p:nvPr/>
        </p:nvSpPr>
        <p:spPr>
          <a:xfrm>
            <a:off x="8229600" y="4320540"/>
            <a:ext cx="502920" cy="0"/>
          </a:xfrm>
          <a:prstGeom prst="line">
            <a:avLst/>
          </a:prstGeom>
          <a:noFill/>
          <a:ln w="19050">
            <a:solidFill>
              <a:srgbClr val="5A6680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Components at a glance</a:t>
            </a:r>
            <a:endParaRPr lang="en-US" sz="3000" dirty="0"/>
          </a:p>
        </p:txBody>
      </p:sp>
      <p:graphicFrame>
        <p:nvGraphicFramePr>
          <p:cNvPr id="9" name="componen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394960"/>
                <a:gridCol w="2926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What it does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Technology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B3F"/>
                          </a:solidFill>
                        </a:rPr>
                        <a:t>Collector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Finds bank AI news daily (feeds, newsrooms)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Python, Google News RSS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B3F"/>
                          </a:solidFill>
                        </a:rPr>
                        <a:t>AI screener &amp; fact-checker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Keeps bank AI items, checks every claim, writes summaries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Claude Haiku 4.5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B3F"/>
                          </a:solidFill>
                        </a:rPr>
                        <a:t>De-duplicator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Merges the same story into one card, conservatively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Word match + AI check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B3F"/>
                          </a:solidFill>
                        </a:rPr>
                        <a:t>Annual-report reader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Extracts AI highlights from bank annual reports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pypdf + Claude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B3F"/>
                          </a:solidFill>
                        </a:rPr>
                        <a:t>Sector insights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Global studies, use cases, regulation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Python + Claude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B3F"/>
                          </a:solidFill>
                        </a:rPr>
                        <a:t>Scheduler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Runs everything daily at 06:17 Qatar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GitHub Actions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B3F"/>
                          </a:solidFill>
                        </a:rPr>
                        <a:t>Data store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All items, sources and audit log, versioned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JSON in GitHub repo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B3F"/>
                          </a:solidFill>
                        </a:rPr>
                        <a:t>Dashboard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Mobile web app, filters and charts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GitHub Pages (HTML/JS)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B3F"/>
                          </a:solidFill>
                        </a:rPr>
                        <a:t>Alerts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Pushes new items to phones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Telegram bot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accuracy: every item is checked</a:t>
            </a:r>
            <a:endParaRPr lang="en-US" sz="3000" dirty="0"/>
          </a:p>
        </p:txBody>
      </p:sp>
      <p:sp>
        <p:nvSpPr>
          <p:cNvPr id="3" name="check number circle Real source"/>
          <p:cNvSpPr/>
          <p:nvPr/>
        </p:nvSpPr>
        <p:spPr>
          <a:xfrm>
            <a:off x="548640" y="1463040"/>
            <a:ext cx="548640" cy="548640"/>
          </a:xfrm>
          <a:prstGeom prst="ellipse">
            <a:avLst/>
          </a:prstGeom>
          <a:solidFill>
            <a:srgbClr val="0B1B3F"/>
          </a:solidFill>
          <a:ln w="12700">
            <a:solidFill>
              <a:srgbClr val="0B1B3F"/>
            </a:solidFill>
            <a:prstDash val="solid"/>
          </a:ln>
        </p:spPr>
      </p:sp>
      <p:sp>
        <p:nvSpPr>
          <p:cNvPr id="4" name="check number Real source"/>
          <p:cNvSpPr txBox="1"/>
          <p:nvPr/>
        </p:nvSpPr>
        <p:spPr>
          <a:xfrm>
            <a:off x="54864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9B949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check text Real source"/>
          <p:cNvSpPr txBox="1"/>
          <p:nvPr/>
        </p:nvSpPr>
        <p:spPr>
          <a:xfrm>
            <a:off x="1280160" y="137160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B3F"/>
                </a:solidFill>
              </a:rPr>
              <a:t>Real source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Links come from news feeds or bank sites, never from the AI</a:t>
            </a:r>
            <a:endParaRPr lang="en-US" sz="1700" dirty="0"/>
          </a:p>
        </p:txBody>
      </p:sp>
      <p:sp>
        <p:nvSpPr>
          <p:cNvPr id="6" name="check number circle Bank named"/>
          <p:cNvSpPr/>
          <p:nvPr/>
        </p:nvSpPr>
        <p:spPr>
          <a:xfrm>
            <a:off x="548640" y="2331720"/>
            <a:ext cx="548640" cy="548640"/>
          </a:xfrm>
          <a:prstGeom prst="ellipse">
            <a:avLst/>
          </a:prstGeom>
          <a:solidFill>
            <a:srgbClr val="0B1B3F"/>
          </a:solidFill>
          <a:ln w="12700">
            <a:solidFill>
              <a:srgbClr val="0B1B3F"/>
            </a:solidFill>
            <a:prstDash val="solid"/>
          </a:ln>
        </p:spPr>
      </p:sp>
      <p:sp>
        <p:nvSpPr>
          <p:cNvPr id="7" name="check number Bank named"/>
          <p:cNvSpPr txBox="1"/>
          <p:nvPr/>
        </p:nvSpPr>
        <p:spPr>
          <a:xfrm>
            <a:off x="54864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9B949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check text Bank named"/>
          <p:cNvSpPr txBox="1"/>
          <p:nvPr/>
        </p:nvSpPr>
        <p:spPr>
          <a:xfrm>
            <a:off x="1280160" y="224028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B3F"/>
                </a:solidFill>
              </a:rPr>
              <a:t>Bank named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The bank must be named in the source (English or Arabic)</a:t>
            </a:r>
            <a:endParaRPr lang="en-US" sz="1700" dirty="0"/>
          </a:p>
        </p:txBody>
      </p:sp>
      <p:sp>
        <p:nvSpPr>
          <p:cNvPr id="9" name="check number circle No invented numbers"/>
          <p:cNvSpPr/>
          <p:nvPr/>
        </p:nvSpPr>
        <p:spPr>
          <a:xfrm>
            <a:off x="548640" y="3200400"/>
            <a:ext cx="548640" cy="548640"/>
          </a:xfrm>
          <a:prstGeom prst="ellipse">
            <a:avLst/>
          </a:prstGeom>
          <a:solidFill>
            <a:srgbClr val="0B1B3F"/>
          </a:solidFill>
          <a:ln w="12700">
            <a:solidFill>
              <a:srgbClr val="0B1B3F"/>
            </a:solidFill>
            <a:prstDash val="solid"/>
          </a:ln>
        </p:spPr>
      </p:sp>
      <p:sp>
        <p:nvSpPr>
          <p:cNvPr id="10" name="check number No invented numbers"/>
          <p:cNvSpPr txBox="1"/>
          <p:nvPr/>
        </p:nvSpPr>
        <p:spPr>
          <a:xfrm>
            <a:off x="54864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9B949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check text No invented numbers"/>
          <p:cNvSpPr txBox="1"/>
          <p:nvPr/>
        </p:nvSpPr>
        <p:spPr>
          <a:xfrm>
            <a:off x="1280160" y="310896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B3F"/>
                </a:solidFill>
              </a:rPr>
              <a:t>No invented numbers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Every figure must appear in the source</a:t>
            </a:r>
            <a:endParaRPr lang="en-US" sz="1700" dirty="0"/>
          </a:p>
        </p:txBody>
      </p:sp>
      <p:sp>
        <p:nvSpPr>
          <p:cNvPr id="12" name="check number circle Independent AI fact-check"/>
          <p:cNvSpPr/>
          <p:nvPr/>
        </p:nvSpPr>
        <p:spPr>
          <a:xfrm>
            <a:off x="548640" y="4069080"/>
            <a:ext cx="548640" cy="548640"/>
          </a:xfrm>
          <a:prstGeom prst="ellipse">
            <a:avLst/>
          </a:prstGeom>
          <a:solidFill>
            <a:srgbClr val="0B1B3F"/>
          </a:solidFill>
          <a:ln w="12700">
            <a:solidFill>
              <a:srgbClr val="0B1B3F"/>
            </a:solidFill>
            <a:prstDash val="solid"/>
          </a:ln>
        </p:spPr>
      </p:sp>
      <p:sp>
        <p:nvSpPr>
          <p:cNvPr id="13" name="check number Independent AI fact-check"/>
          <p:cNvSpPr txBox="1"/>
          <p:nvPr/>
        </p:nvSpPr>
        <p:spPr>
          <a:xfrm>
            <a:off x="54864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9B949"/>
                </a:solidFill>
              </a:rPr>
              <a:t>4</a:t>
            </a:r>
            <a:endParaRPr lang="en-US" sz="1800" dirty="0"/>
          </a:p>
        </p:txBody>
      </p:sp>
      <p:sp>
        <p:nvSpPr>
          <p:cNvPr id="14" name="check text Independent AI fact-check"/>
          <p:cNvSpPr txBox="1"/>
          <p:nvPr/>
        </p:nvSpPr>
        <p:spPr>
          <a:xfrm>
            <a:off x="1280160" y="397764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B3F"/>
                </a:solidFill>
              </a:rPr>
              <a:t>Independent AI fact-check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A second AI pass checks each claim against the article</a:t>
            </a:r>
            <a:endParaRPr lang="en-US" sz="1700" dirty="0"/>
          </a:p>
        </p:txBody>
      </p:sp>
      <p:sp>
        <p:nvSpPr>
          <p:cNvPr id="15" name="check number circle Trusted or confirmed"/>
          <p:cNvSpPr/>
          <p:nvPr/>
        </p:nvSpPr>
        <p:spPr>
          <a:xfrm>
            <a:off x="548640" y="4937760"/>
            <a:ext cx="548640" cy="548640"/>
          </a:xfrm>
          <a:prstGeom prst="ellipse">
            <a:avLst/>
          </a:prstGeom>
          <a:solidFill>
            <a:srgbClr val="0B1B3F"/>
          </a:solidFill>
          <a:ln w="12700">
            <a:solidFill>
              <a:srgbClr val="0B1B3F"/>
            </a:solidFill>
            <a:prstDash val="solid"/>
          </a:ln>
        </p:spPr>
      </p:sp>
      <p:sp>
        <p:nvSpPr>
          <p:cNvPr id="16" name="check number Trusted or confirmed"/>
          <p:cNvSpPr txBox="1"/>
          <p:nvPr/>
        </p:nvSpPr>
        <p:spPr>
          <a:xfrm>
            <a:off x="548640" y="4937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9B949"/>
                </a:solidFill>
              </a:rPr>
              <a:t>5</a:t>
            </a:r>
            <a:endParaRPr lang="en-US" sz="1800" dirty="0"/>
          </a:p>
        </p:txBody>
      </p:sp>
      <p:sp>
        <p:nvSpPr>
          <p:cNvPr id="17" name="check text Trusted or confirmed"/>
          <p:cNvSpPr txBox="1"/>
          <p:nvPr/>
        </p:nvSpPr>
        <p:spPr>
          <a:xfrm>
            <a:off x="1280160" y="484632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B3F"/>
                </a:solidFill>
              </a:rPr>
              <a:t>Trusted or confirmed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Official or reputable outlet, or a second outlet confirms it</a:t>
            </a:r>
            <a:endParaRPr lang="en-US" sz="1700" dirty="0"/>
          </a:p>
        </p:txBody>
      </p:sp>
      <p:sp>
        <p:nvSpPr>
          <p:cNvPr id="18" name="dedupe card"/>
          <p:cNvSpPr/>
          <p:nvPr/>
        </p:nvSpPr>
        <p:spPr>
          <a:xfrm>
            <a:off x="7406640" y="1371600"/>
            <a:ext cx="4206240" cy="2148840"/>
          </a:xfrm>
          <a:prstGeom prst="roundRect">
            <a:avLst>
              <a:gd name="adj" fmla="val 5106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9" name="icon circle"/>
          <p:cNvSpPr/>
          <p:nvPr/>
        </p:nvSpPr>
        <p:spPr>
          <a:xfrm>
            <a:off x="7635240" y="1554480"/>
            <a:ext cx="548640" cy="548640"/>
          </a:xfrm>
          <a:prstGeom prst="ellipse">
            <a:avLst/>
          </a:prstGeom>
          <a:solidFill>
            <a:srgbClr val="0B1B3F"/>
          </a:solidFill>
          <a:ln w="12700">
            <a:solidFill>
              <a:srgbClr val="0B1B3F"/>
            </a:solidFill>
            <a:prstDash val="solid"/>
          </a:ln>
        </p:spPr>
      </p:sp>
      <p:pic>
        <p:nvPicPr>
          <p:cNvPr id="20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5941" y="1675181"/>
            <a:ext cx="307238" cy="307238"/>
          </a:xfrm>
          <a:prstGeom prst="rect">
            <a:avLst/>
          </a:prstGeom>
        </p:spPr>
      </p:pic>
      <p:sp>
        <p:nvSpPr>
          <p:cNvPr id="21" name="dedupe text"/>
          <p:cNvSpPr txBox="1"/>
          <p:nvPr/>
        </p:nvSpPr>
        <p:spPr>
          <a:xfrm>
            <a:off x="7635240" y="2194560"/>
            <a:ext cx="3794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1B3F"/>
                </a:solidFill>
              </a:rPr>
              <a:t>One story, one card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Merged only when the AI is highly confident and a shared detail (person, product, partner) is in both stories.</a:t>
            </a:r>
            <a:endParaRPr lang="en-US" sz="1700" dirty="0"/>
          </a:p>
        </p:txBody>
      </p:sp>
      <p:sp>
        <p:nvSpPr>
          <p:cNvPr id="22" name="annual report card"/>
          <p:cNvSpPr/>
          <p:nvPr/>
        </p:nvSpPr>
        <p:spPr>
          <a:xfrm>
            <a:off x="7406640" y="3749040"/>
            <a:ext cx="4206240" cy="2148840"/>
          </a:xfrm>
          <a:prstGeom prst="roundRect">
            <a:avLst>
              <a:gd name="adj" fmla="val 5106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23" name="icon circle"/>
          <p:cNvSpPr/>
          <p:nvPr/>
        </p:nvSpPr>
        <p:spPr>
          <a:xfrm>
            <a:off x="7635240" y="3931920"/>
            <a:ext cx="548640" cy="548640"/>
          </a:xfrm>
          <a:prstGeom prst="ellipse">
            <a:avLst/>
          </a:prstGeom>
          <a:solidFill>
            <a:srgbClr val="0B1B3F"/>
          </a:solidFill>
          <a:ln w="12700">
            <a:solidFill>
              <a:srgbClr val="0B1B3F"/>
            </a:solidFill>
            <a:prstDash val="solid"/>
          </a:ln>
        </p:spPr>
      </p:sp>
      <p:pic>
        <p:nvPicPr>
          <p:cNvPr id="24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5941" y="4052621"/>
            <a:ext cx="307238" cy="307238"/>
          </a:xfrm>
          <a:prstGeom prst="rect">
            <a:avLst/>
          </a:prstGeom>
        </p:spPr>
      </p:pic>
      <p:sp>
        <p:nvSpPr>
          <p:cNvPr id="25" name="annual report text"/>
          <p:cNvSpPr txBox="1"/>
          <p:nvPr/>
        </p:nvSpPr>
        <p:spPr>
          <a:xfrm>
            <a:off x="7635240" y="4572000"/>
            <a:ext cx="3794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1B3F"/>
                </a:solidFill>
              </a:rPr>
              <a:t>Annual reports: quote-checked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Shown only if the exact quote is found on that page of the bank's PDF.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Coverage after the first days</a:t>
            </a:r>
            <a:endParaRPr lang="en-US" sz="30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Verified AI items by country (as of 6 Oct 2026, growing daily)</a:t>
            </a:r>
            <a:endParaRPr lang="en-US" sz="1600" dirty="0"/>
          </a:p>
        </p:txBody>
      </p:sp>
      <p:graphicFrame>
        <p:nvGraphicFramePr>
          <p:cNvPr id="4" name="items by country chart" descr=""/>
          <p:cNvGraphicFramePr/>
          <p:nvPr/>
        </p:nvGraphicFramePr>
        <p:xfrm>
          <a:off x="548640" y="1645920"/>
          <a:ext cx="67665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overage AI highlights from 30 annual reports"/>
          <p:cNvSpPr/>
          <p:nvPr/>
        </p:nvSpPr>
        <p:spPr>
          <a:xfrm>
            <a:off x="7772400" y="1645920"/>
            <a:ext cx="3840480" cy="1325880"/>
          </a:xfrm>
          <a:prstGeom prst="roundRect">
            <a:avLst>
              <a:gd name="adj" fmla="val 8276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6" name="coverage value AI highlights from 30 annual reports"/>
          <p:cNvSpPr txBox="1"/>
          <p:nvPr/>
        </p:nvSpPr>
        <p:spPr>
          <a:xfrm>
            <a:off x="8001000" y="1737360"/>
            <a:ext cx="1371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</a:t>
            </a:r>
            <a:endParaRPr lang="en-US" sz="4000" dirty="0"/>
          </a:p>
        </p:txBody>
      </p:sp>
      <p:sp>
        <p:nvSpPr>
          <p:cNvPr id="7" name="coverage label AI highlights from 30 annual reports"/>
          <p:cNvSpPr txBox="1"/>
          <p:nvPr/>
        </p:nvSpPr>
        <p:spPr>
          <a:xfrm>
            <a:off x="9372600" y="1737360"/>
            <a:ext cx="2103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AI highlights from 30 annual reports</a:t>
            </a:r>
            <a:endParaRPr lang="en-US" sz="1400" dirty="0"/>
          </a:p>
        </p:txBody>
      </p:sp>
      <p:sp>
        <p:nvSpPr>
          <p:cNvPr id="8" name="coverage banks' annual reports read so far"/>
          <p:cNvSpPr/>
          <p:nvPr/>
        </p:nvSpPr>
        <p:spPr>
          <a:xfrm>
            <a:off x="7772400" y="3200400"/>
            <a:ext cx="3840480" cy="1325880"/>
          </a:xfrm>
          <a:prstGeom prst="roundRect">
            <a:avLst>
              <a:gd name="adj" fmla="val 8276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9" name="coverage value banks&amp;apos; annual reports read so far"/>
          <p:cNvSpPr txBox="1"/>
          <p:nvPr/>
        </p:nvSpPr>
        <p:spPr>
          <a:xfrm>
            <a:off x="8001000" y="3291840"/>
            <a:ext cx="1371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4000" dirty="0"/>
          </a:p>
        </p:txBody>
      </p:sp>
      <p:sp>
        <p:nvSpPr>
          <p:cNvPr id="10" name="coverage label banks&amp;apos; annual reports read so far"/>
          <p:cNvSpPr txBox="1"/>
          <p:nvPr/>
        </p:nvSpPr>
        <p:spPr>
          <a:xfrm>
            <a:off x="9372600" y="3291840"/>
            <a:ext cx="2103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banks' annual reports read so far</a:t>
            </a:r>
            <a:endParaRPr lang="en-US" sz="1400" dirty="0"/>
          </a:p>
        </p:txBody>
      </p:sp>
      <p:sp>
        <p:nvSpPr>
          <p:cNvPr id="11" name="coverage global studies and use cases"/>
          <p:cNvSpPr/>
          <p:nvPr/>
        </p:nvSpPr>
        <p:spPr>
          <a:xfrm>
            <a:off x="7772400" y="4754880"/>
            <a:ext cx="3840480" cy="1325880"/>
          </a:xfrm>
          <a:prstGeom prst="roundRect">
            <a:avLst>
              <a:gd name="adj" fmla="val 8276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2" name="coverage value global studies and use cases"/>
          <p:cNvSpPr txBox="1"/>
          <p:nvPr/>
        </p:nvSpPr>
        <p:spPr>
          <a:xfrm>
            <a:off x="8001000" y="4846320"/>
            <a:ext cx="1371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</a:t>
            </a:r>
            <a:endParaRPr lang="en-US" sz="4000" dirty="0"/>
          </a:p>
        </p:txBody>
      </p:sp>
      <p:sp>
        <p:nvSpPr>
          <p:cNvPr id="13" name="coverage label global studies and use cases"/>
          <p:cNvSpPr txBox="1"/>
          <p:nvPr/>
        </p:nvSpPr>
        <p:spPr>
          <a:xfrm>
            <a:off x="9372600" y="4846320"/>
            <a:ext cx="2103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global studies and use cases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GCC banks are doing with AI</a:t>
            </a:r>
            <a:endParaRPr lang="en-US" sz="30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Share of items per theme; an item can have several themes</a:t>
            </a:r>
            <a:endParaRPr lang="en-US" sz="1600" dirty="0"/>
          </a:p>
        </p:txBody>
      </p:sp>
      <p:graphicFrame>
        <p:nvGraphicFramePr>
          <p:cNvPr id="4" name="themes chart" descr=""/>
          <p:cNvGraphicFramePr/>
          <p:nvPr/>
        </p:nvGraphicFramePr>
        <p:xfrm>
          <a:off x="548640" y="1600200"/>
          <a:ext cx="722376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icon circle"/>
          <p:cNvSpPr/>
          <p:nvPr/>
        </p:nvSpPr>
        <p:spPr>
          <a:xfrm>
            <a:off x="8138160" y="1737360"/>
            <a:ext cx="548640" cy="548640"/>
          </a:xfrm>
          <a:prstGeom prst="ellipse">
            <a:avLst/>
          </a:prstGeom>
          <a:solidFill>
            <a:srgbClr val="0B1B3F"/>
          </a:solidFill>
          <a:ln w="12700">
            <a:solidFill>
              <a:srgbClr val="0B1B3F"/>
            </a:solidFill>
            <a:prstDash val="solid"/>
          </a:ln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861" y="1858061"/>
            <a:ext cx="307238" cy="307238"/>
          </a:xfrm>
          <a:prstGeom prst="rect">
            <a:avLst/>
          </a:prstGeom>
        </p:spPr>
      </p:pic>
      <p:sp>
        <p:nvSpPr>
          <p:cNvPr id="7" name="takeaway Operations first"/>
          <p:cNvSpPr txBox="1"/>
          <p:nvPr/>
        </p:nvSpPr>
        <p:spPr>
          <a:xfrm>
            <a:off x="8869680" y="169164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B3F"/>
                </a:solidFill>
              </a:rPr>
              <a:t>Operations first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Most activity is AI inside the bank: credit, KYC, back office.</a:t>
            </a:r>
            <a:endParaRPr lang="en-US" sz="1600" dirty="0"/>
          </a:p>
        </p:txBody>
      </p:sp>
      <p:sp>
        <p:nvSpPr>
          <p:cNvPr id="8" name="icon circle"/>
          <p:cNvSpPr/>
          <p:nvPr/>
        </p:nvSpPr>
        <p:spPr>
          <a:xfrm>
            <a:off x="8138160" y="3246120"/>
            <a:ext cx="548640" cy="548640"/>
          </a:xfrm>
          <a:prstGeom prst="ellipse">
            <a:avLst/>
          </a:prstGeom>
          <a:solidFill>
            <a:srgbClr val="0B1B3F"/>
          </a:solidFill>
          <a:ln w="12700">
            <a:solidFill>
              <a:srgbClr val="0B1B3F"/>
            </a:solidFill>
            <a:prstDash val="solid"/>
          </a:ln>
        </p:spPr>
      </p:sp>
      <p:pic>
        <p:nvPicPr>
          <p:cNvPr id="9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8861" y="3366821"/>
            <a:ext cx="307238" cy="307238"/>
          </a:xfrm>
          <a:prstGeom prst="rect">
            <a:avLst/>
          </a:prstGeom>
        </p:spPr>
      </p:pic>
      <p:sp>
        <p:nvSpPr>
          <p:cNvPr id="10" name="takeaway Vendors matter"/>
          <p:cNvSpPr txBox="1"/>
          <p:nvPr/>
        </p:nvSpPr>
        <p:spPr>
          <a:xfrm>
            <a:off x="8869680" y="32004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B3F"/>
                </a:solidFill>
              </a:rPr>
              <a:t>Vendors matter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Microsoft is the top partner (11 items), then Visa and NVIDIA.</a:t>
            </a:r>
            <a:endParaRPr lang="en-US" sz="1600" dirty="0"/>
          </a:p>
        </p:txBody>
      </p:sp>
      <p:sp>
        <p:nvSpPr>
          <p:cNvPr id="11" name="icon circle"/>
          <p:cNvSpPr/>
          <p:nvPr/>
        </p:nvSpPr>
        <p:spPr>
          <a:xfrm>
            <a:off x="8138160" y="4754880"/>
            <a:ext cx="548640" cy="548640"/>
          </a:xfrm>
          <a:prstGeom prst="ellipse">
            <a:avLst/>
          </a:prstGeom>
          <a:solidFill>
            <a:srgbClr val="0B1B3F"/>
          </a:solidFill>
          <a:ln w="12700">
            <a:solidFill>
              <a:srgbClr val="0B1B3F"/>
            </a:solidFill>
            <a:prstDash val="solid"/>
          </a:ln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8861" y="4875581"/>
            <a:ext cx="307238" cy="307238"/>
          </a:xfrm>
          <a:prstGeom prst="rect">
            <a:avLst/>
          </a:prstGeom>
        </p:spPr>
      </p:pic>
      <p:sp>
        <p:nvSpPr>
          <p:cNvPr id="13" name="takeaway Leadership moves"/>
          <p:cNvSpPr txBox="1"/>
          <p:nvPr/>
        </p:nvSpPr>
        <p:spPr>
          <a:xfrm>
            <a:off x="8869680" y="470916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B3F"/>
                </a:solidFill>
              </a:rPr>
              <a:t>Leadership moves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ADIB and ADCB have appointed Chief AI Officers.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cost, no servers, no manual work</a:t>
            </a:r>
            <a:endParaRPr lang="en-US" sz="3000" dirty="0"/>
          </a:p>
        </p:txBody>
      </p:sp>
      <p:graphicFrame>
        <p:nvGraphicFramePr>
          <p:cNvPr id="13" name="cos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03504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20116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Item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Cost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GitHub hosting &amp; automation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1B3F"/>
                          </a:solidFill>
                        </a:rPr>
                        <a:t>Free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Google News &amp; bank sites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1B3F"/>
                          </a:solidFill>
                        </a:rPr>
                        <a:t>Free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Telegram alerts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1B3F"/>
                          </a:solidFill>
                        </a:rPr>
                        <a:t>Free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Claude Haiku 4.5 (AI checks)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1B3F"/>
                          </a:solidFill>
                        </a:rPr>
                        <a:t>≈ $1–5 / month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One-time history load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1B3F"/>
                          </a:solidFill>
                        </a:rPr>
                        <a:t>A few dollars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4" name="cost note"/>
          <p:cNvSpPr txBox="1"/>
          <p:nvPr/>
        </p:nvSpPr>
        <p:spPr>
          <a:xfrm>
            <a:off x="548640" y="489204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A monthly spend limit is set in the Anthropic console; if credit runs out, the run stops safely and sends a Telegram alert.</a:t>
            </a:r>
            <a:endParaRPr lang="en-US" sz="1300" dirty="0"/>
          </a:p>
        </p:txBody>
      </p:sp>
      <p:sp>
        <p:nvSpPr>
          <p:cNvPr id="5" name="ops Daily at 06:17 Qatar"/>
          <p:cNvSpPr/>
          <p:nvPr/>
        </p:nvSpPr>
        <p:spPr>
          <a:xfrm>
            <a:off x="7040880" y="1371600"/>
            <a:ext cx="4572000" cy="1234440"/>
          </a:xfrm>
          <a:prstGeom prst="roundRect">
            <a:avLst>
              <a:gd name="adj" fmla="val 8889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6" name="icon circle"/>
          <p:cNvSpPr/>
          <p:nvPr/>
        </p:nvSpPr>
        <p:spPr>
          <a:xfrm>
            <a:off x="7269480" y="1709928"/>
            <a:ext cx="548640" cy="548640"/>
          </a:xfrm>
          <a:prstGeom prst="ellipse">
            <a:avLst/>
          </a:prstGeom>
          <a:solidFill>
            <a:srgbClr val="0B1B3F"/>
          </a:solidFill>
          <a:ln w="12700">
            <a:solidFill>
              <a:srgbClr val="0B1B3F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0181" y="1830629"/>
            <a:ext cx="307238" cy="307238"/>
          </a:xfrm>
          <a:prstGeom prst="rect">
            <a:avLst/>
          </a:prstGeom>
        </p:spPr>
      </p:pic>
      <p:sp>
        <p:nvSpPr>
          <p:cNvPr id="8" name="ops text Daily at 06:17 Qatar"/>
          <p:cNvSpPr txBox="1"/>
          <p:nvPr/>
        </p:nvSpPr>
        <p:spPr>
          <a:xfrm>
            <a:off x="8046720" y="1371600"/>
            <a:ext cx="3429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B3F"/>
                </a:solidFill>
              </a:rPr>
              <a:t>Daily at 06:17 Qatar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Fully automatic; can also be run on demand</a:t>
            </a:r>
            <a:endParaRPr lang="en-US" sz="1600" dirty="0"/>
          </a:p>
        </p:txBody>
      </p:sp>
      <p:sp>
        <p:nvSpPr>
          <p:cNvPr id="9" name="ops Public data only"/>
          <p:cNvSpPr/>
          <p:nvPr/>
        </p:nvSpPr>
        <p:spPr>
          <a:xfrm>
            <a:off x="7040880" y="2834640"/>
            <a:ext cx="4572000" cy="1234440"/>
          </a:xfrm>
          <a:prstGeom prst="roundRect">
            <a:avLst>
              <a:gd name="adj" fmla="val 8889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0" name="icon circle"/>
          <p:cNvSpPr/>
          <p:nvPr/>
        </p:nvSpPr>
        <p:spPr>
          <a:xfrm>
            <a:off x="7269480" y="3172968"/>
            <a:ext cx="548640" cy="548640"/>
          </a:xfrm>
          <a:prstGeom prst="ellipse">
            <a:avLst/>
          </a:prstGeom>
          <a:solidFill>
            <a:srgbClr val="0B1B3F"/>
          </a:solidFill>
          <a:ln w="12700">
            <a:solidFill>
              <a:srgbClr val="0B1B3F"/>
            </a:solidFill>
            <a:prstDash val="solid"/>
          </a:ln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0181" y="3293669"/>
            <a:ext cx="307238" cy="307238"/>
          </a:xfrm>
          <a:prstGeom prst="rect">
            <a:avLst/>
          </a:prstGeom>
        </p:spPr>
      </p:pic>
      <p:sp>
        <p:nvSpPr>
          <p:cNvPr id="12" name="ops text Public data only"/>
          <p:cNvSpPr txBox="1"/>
          <p:nvPr/>
        </p:nvSpPr>
        <p:spPr>
          <a:xfrm>
            <a:off x="8046720" y="2834640"/>
            <a:ext cx="3429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B3F"/>
                </a:solidFill>
              </a:rPr>
              <a:t>Public data only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No bank or customer data; public sources only</a:t>
            </a:r>
            <a:endParaRPr lang="en-US" sz="1600" dirty="0"/>
          </a:p>
        </p:txBody>
      </p:sp>
      <p:sp>
        <p:nvSpPr>
          <p:cNvPr id="13" name="ops Shareable link"/>
          <p:cNvSpPr/>
          <p:nvPr/>
        </p:nvSpPr>
        <p:spPr>
          <a:xfrm>
            <a:off x="7040880" y="4297680"/>
            <a:ext cx="4572000" cy="1234440"/>
          </a:xfrm>
          <a:prstGeom prst="roundRect">
            <a:avLst>
              <a:gd name="adj" fmla="val 8889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4" name="icon circle"/>
          <p:cNvSpPr/>
          <p:nvPr/>
        </p:nvSpPr>
        <p:spPr>
          <a:xfrm>
            <a:off x="7269480" y="4636008"/>
            <a:ext cx="548640" cy="548640"/>
          </a:xfrm>
          <a:prstGeom prst="ellipse">
            <a:avLst/>
          </a:prstGeom>
          <a:solidFill>
            <a:srgbClr val="0B1B3F"/>
          </a:solidFill>
          <a:ln w="12700">
            <a:solidFill>
              <a:srgbClr val="0B1B3F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0181" y="4756709"/>
            <a:ext cx="307238" cy="307238"/>
          </a:xfrm>
          <a:prstGeom prst="rect">
            <a:avLst/>
          </a:prstGeom>
        </p:spPr>
      </p:pic>
      <p:sp>
        <p:nvSpPr>
          <p:cNvPr id="16" name="ops text Shareable link"/>
          <p:cNvSpPr txBox="1"/>
          <p:nvPr/>
        </p:nvSpPr>
        <p:spPr>
          <a:xfrm>
            <a:off x="8046720" y="4297680"/>
            <a:ext cx="3429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B3F"/>
                </a:solidFill>
              </a:rPr>
              <a:t>Shareable link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Opens on any phone; no app or login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3" name="next Complete coverage"/>
          <p:cNvSpPr/>
          <p:nvPr/>
        </p:nvSpPr>
        <p:spPr>
          <a:xfrm>
            <a:off x="548640" y="137160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0B1B3F"/>
          </a:solidFill>
          <a:ln w="12700">
            <a:solidFill>
              <a:srgbClr val="0B1B3F"/>
            </a:solidFill>
            <a:prstDash val="solid"/>
          </a:ln>
        </p:spPr>
      </p:sp>
      <p:sp>
        <p:nvSpPr>
          <p:cNvPr id="4" name="next tag Complete coverage"/>
          <p:cNvSpPr txBox="1"/>
          <p:nvPr/>
        </p:nvSpPr>
        <p:spPr>
          <a:xfrm>
            <a:off x="822960" y="16002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9B949"/>
                </a:solidFill>
              </a:rPr>
              <a:t>NOW</a:t>
            </a:r>
            <a:endParaRPr lang="en-US" sz="1300" dirty="0"/>
          </a:p>
        </p:txBody>
      </p:sp>
      <p:sp>
        <p:nvSpPr>
          <p:cNvPr id="5" name="next head Complete coverage"/>
          <p:cNvSpPr txBox="1"/>
          <p:nvPr/>
        </p:nvSpPr>
        <p:spPr>
          <a:xfrm>
            <a:off x="822960" y="19659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coverage</a:t>
            </a:r>
            <a:endParaRPr lang="en-US" sz="2200" dirty="0"/>
          </a:p>
        </p:txBody>
      </p:sp>
      <p:sp>
        <p:nvSpPr>
          <p:cNvPr id="6" name="next items Complete coverage"/>
          <p:cNvSpPr txBox="1"/>
          <p:nvPr/>
        </p:nvSpPr>
        <p:spPr>
          <a:xfrm>
            <a:off x="822960" y="269748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Annual reports for all 74 banks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Proper logos for the remaining banks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Full 12 months of global insights</a:t>
            </a:r>
            <a:endParaRPr lang="en-US" sz="1500" dirty="0"/>
          </a:p>
        </p:txBody>
      </p:sp>
      <p:sp>
        <p:nvSpPr>
          <p:cNvPr id="7" name="next Share more widely"/>
          <p:cNvSpPr/>
          <p:nvPr/>
        </p:nvSpPr>
        <p:spPr>
          <a:xfrm>
            <a:off x="4297680" y="137160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8" name="next tag Share more widely"/>
          <p:cNvSpPr txBox="1"/>
          <p:nvPr/>
        </p:nvSpPr>
        <p:spPr>
          <a:xfrm>
            <a:off x="4572000" y="16002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8780F"/>
                </a:solidFill>
              </a:rPr>
              <a:t>NEXT</a:t>
            </a:r>
            <a:endParaRPr lang="en-US" sz="1300" dirty="0"/>
          </a:p>
        </p:txBody>
      </p:sp>
      <p:sp>
        <p:nvSpPr>
          <p:cNvPr id="9" name="next head Share more widely"/>
          <p:cNvSpPr txBox="1"/>
          <p:nvPr/>
        </p:nvSpPr>
        <p:spPr>
          <a:xfrm>
            <a:off x="4572000" y="19659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 more widely</a:t>
            </a:r>
            <a:endParaRPr lang="en-US" sz="2200" dirty="0"/>
          </a:p>
        </p:txBody>
      </p:sp>
      <p:sp>
        <p:nvSpPr>
          <p:cNvPr id="10" name="next items Share more widely"/>
          <p:cNvSpPr txBox="1"/>
          <p:nvPr/>
        </p:nvSpPr>
        <p:spPr>
          <a:xfrm>
            <a:off x="4572000" y="269748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Roll out the link to leadership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Telegram channel for the AI team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Monthly AI benchmark summary</a:t>
            </a:r>
            <a:endParaRPr lang="en-US" sz="1500" dirty="0"/>
          </a:p>
        </p:txBody>
      </p:sp>
      <p:sp>
        <p:nvSpPr>
          <p:cNvPr id="11" name="next Extend"/>
          <p:cNvSpPr/>
          <p:nvPr/>
        </p:nvSpPr>
        <p:spPr>
          <a:xfrm>
            <a:off x="8046720" y="137160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2" name="next tag Extend"/>
          <p:cNvSpPr txBox="1"/>
          <p:nvPr/>
        </p:nvSpPr>
        <p:spPr>
          <a:xfrm>
            <a:off x="8321040" y="16002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8780F"/>
                </a:solidFill>
              </a:rPr>
              <a:t>OPTIONS</a:t>
            </a:r>
            <a:endParaRPr lang="en-US" sz="1300" dirty="0"/>
          </a:p>
        </p:txBody>
      </p:sp>
      <p:sp>
        <p:nvSpPr>
          <p:cNvPr id="13" name="next head Extend"/>
          <p:cNvSpPr txBox="1"/>
          <p:nvPr/>
        </p:nvSpPr>
        <p:spPr>
          <a:xfrm>
            <a:off x="8321040" y="19659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Extend</a:t>
            </a:r>
            <a:endParaRPr lang="en-US" sz="2200" dirty="0"/>
          </a:p>
        </p:txBody>
      </p:sp>
      <p:sp>
        <p:nvSpPr>
          <p:cNvPr id="14" name="next items Extend"/>
          <p:cNvSpPr txBox="1"/>
          <p:nvPr/>
        </p:nvSpPr>
        <p:spPr>
          <a:xfrm>
            <a:off x="8321040" y="269748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Private access (sign-in) if needed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Peer scorecard per bank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Arabic interface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15544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chemeClr val="accent1"/>
                </a:solidFill>
              </a:rPr>
              <a:t>GCC BANKING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201168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Pulse Monitor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640080" y="361188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D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 on your phone: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atulchandorkar.github.io/gitproject</a:t>
            </a:r>
            <a:endParaRPr lang="en-US" sz="1800" dirty="0"/>
          </a:p>
        </p:txBody>
      </p:sp>
      <p:sp>
        <p:nvSpPr>
          <p:cNvPr id="5" name="sector insights screenshot frame"/>
          <p:cNvSpPr/>
          <p:nvPr/>
        </p:nvSpPr>
        <p:spPr>
          <a:xfrm>
            <a:off x="8494776" y="630936"/>
            <a:ext cx="2644913" cy="5596128"/>
          </a:xfrm>
          <a:prstGeom prst="roundRect">
            <a:avLst>
              <a:gd name="adj" fmla="val 6223"/>
            </a:avLst>
          </a:prstGeom>
          <a:solidFill>
            <a:srgbClr val="0B1B3F"/>
          </a:solidFill>
          <a:ln w="12700">
            <a:solidFill>
              <a:srgbClr val="0B1B3F"/>
            </a:solidFill>
            <a:prstDash val="solid"/>
          </a:ln>
        </p:spPr>
      </p:sp>
      <p:pic>
        <p:nvPicPr>
          <p:cNvPr id="6" name="sector insights screenshot" descr="/tmp/claude-0/-home-user-gitproject/76f728fb-b6b8-5009-8919-0513037ebd7e/scratchpad/d_secto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549640" y="685800"/>
            <a:ext cx="2535185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I Pulse Monitor">
  <a:themeElements>
    <a:clrScheme name="AI Pulse Monitor">
      <a:dk1>
        <a:srgbClr val="1F2937"/>
      </a:dk1>
      <a:lt1>
        <a:srgbClr val="FFFFFF"/>
      </a:lt1>
      <a:dk2>
        <a:srgbClr val="0B1B3F"/>
      </a:dk2>
      <a:lt2>
        <a:srgbClr val="F3F5F9"/>
      </a:lt2>
      <a:accent1>
        <a:srgbClr val="E9B949"/>
      </a:accent1>
      <a:accent2>
        <a:srgbClr val="2A78D6"/>
      </a:accent2>
      <a:accent3>
        <a:srgbClr val="1D7A46"/>
      </a:accent3>
      <a:accent4>
        <a:srgbClr val="A8780F"/>
      </a:accent4>
      <a:accent5>
        <a:srgbClr val="5A6680"/>
      </a:accent5>
      <a:accent6>
        <a:srgbClr val="E3E7EF"/>
      </a:accent6>
      <a:hlink>
        <a:srgbClr val="2A78D6"/>
      </a:hlink>
      <a:folHlink>
        <a:srgbClr val="5A6680"/>
      </a:folHlink>
    </a:clrScheme>
    <a:fontScheme name="AI Pulse Monito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GCC Banking – AI Pulse Monitor: Solution overview</dc:title>
  <dc:subject>PptxGenJS Presentation</dc:subject>
  <dc:creator>Head of AI</dc:creator>
  <cp:lastModifiedBy>Head of AI</cp:lastModifiedBy>
  <cp:revision>1</cp:revision>
  <dcterms:created xsi:type="dcterms:W3CDTF">2026-10-06T02:33:11Z</dcterms:created>
  <dcterms:modified xsi:type="dcterms:W3CDTF">2026-10-06T02:33:11Z</dcterms:modified>
</cp:coreProperties>
</file>